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68" r:id="rId6"/>
    <p:sldId id="260" r:id="rId7"/>
    <p:sldId id="261" r:id="rId8"/>
    <p:sldId id="263" r:id="rId9"/>
    <p:sldId id="259" r:id="rId10"/>
    <p:sldId id="262" r:id="rId11"/>
    <p:sldId id="265" r:id="rId12"/>
    <p:sldId id="266" r:id="rId13"/>
    <p:sldId id="264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AjR1aLzmKLzGWjITQf6TsgKov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48"/>
  </p:normalViewPr>
  <p:slideViewPr>
    <p:cSldViewPr snapToGrid="0">
      <p:cViewPr varScale="1">
        <p:scale>
          <a:sx n="117" d="100"/>
          <a:sy n="117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o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to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t_kkjAhDNw&amp;t=65s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PT"/>
              <a:t>Tradução de poesia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PT" dirty="0"/>
              <a:t>Tradução Literária II 2025/26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PT"/>
              <a:t>Qual a tua definição de poesia?</a:t>
            </a:r>
            <a:endParaRPr/>
          </a:p>
        </p:txBody>
      </p:sp>
      <p:pic>
        <p:nvPicPr>
          <p:cNvPr id="91" name="Google Shape;91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41295" y="1492624"/>
            <a:ext cx="4830754" cy="517222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Eu cá também não gosto—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/>
              <a:t>	Quando, porém, a lemos com perfeito desprezo por ela, descobrimos, apesar de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/>
              <a:t>	tudo, nela um lugar do genuíno.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/>
              <a:t>            (Marianne Moore)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/>
              <a:t>“Poesia é o que se perde na tradução.” (Robert Frost)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PT" dirty="0"/>
              <a:t>Francis R. Jones, “</a:t>
            </a:r>
            <a:r>
              <a:rPr lang="pt-PT" dirty="0" err="1"/>
              <a:t>Poetry</a:t>
            </a:r>
            <a:r>
              <a:rPr lang="pt-PT" dirty="0"/>
              <a:t> </a:t>
            </a:r>
            <a:r>
              <a:rPr lang="pt-PT" dirty="0" err="1"/>
              <a:t>Translation</a:t>
            </a:r>
            <a:r>
              <a:rPr lang="pt-PT" dirty="0"/>
              <a:t>”</a:t>
            </a:r>
            <a:endParaRPr dirty="0"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dirty="0"/>
              <a:t>Caraterísticas da poesia: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 b="1" dirty="0"/>
              <a:t>Sonoridade: </a:t>
            </a:r>
            <a:r>
              <a:rPr lang="pt-PT" dirty="0"/>
              <a:t>extensão do verso, onomatopeia, sílabas acentuadas, rima...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 b="1" dirty="0"/>
              <a:t>Semântica: </a:t>
            </a:r>
            <a:r>
              <a:rPr lang="pt-PT" dirty="0"/>
              <a:t>polissemia, ambiguidade, trocadilhos, mais do que o denotativo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 b="1" dirty="0"/>
              <a:t>Imagética</a:t>
            </a:r>
            <a:r>
              <a:rPr lang="pt-PT" dirty="0"/>
              <a:t> não literal / reativação da literalidade de expressões idiomáticas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 b="1" dirty="0"/>
              <a:t>Sintáticas ou estruturais: </a:t>
            </a:r>
            <a:r>
              <a:rPr lang="pt-PT" b="1" dirty="0" err="1"/>
              <a:t>desfamiliarização</a:t>
            </a:r>
            <a:r>
              <a:rPr lang="pt-PT" dirty="0"/>
              <a:t> pode traduzir-se em desvios de sintaxe e elipses mais pronunciadas do que na prosa, colocação de palavras desviante e potencialmente ambígua (como em quebra de verso)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PT" b="1" dirty="0"/>
              <a:t>(</a:t>
            </a:r>
            <a:r>
              <a:rPr lang="pt-PT" dirty="0"/>
              <a:t>? Ou será para além disso? - perspetiva funcional)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12A04-211D-3C9D-8293-D0F7ACB8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Relações fonte-alvo</a:t>
            </a:r>
            <a:r>
              <a:rPr lang="pt-PT" dirty="0"/>
              <a:t> </a:t>
            </a:r>
            <a:endParaRPr lang="pt-PT" b="1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56BF941-212B-D7BE-D390-BD2D139E4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Tradução em prosa, “adaptações”, “versões, “imitações”, ou tradução recreativa (p.2)</a:t>
            </a:r>
          </a:p>
          <a:p>
            <a:endParaRPr lang="pt-PT" dirty="0"/>
          </a:p>
          <a:p>
            <a:r>
              <a:rPr lang="pt-PT" dirty="0"/>
              <a:t>Exploração, na poesia, de recursos específicos à língua (</a:t>
            </a:r>
            <a:r>
              <a:rPr lang="pt-PT" i="1" dirty="0" err="1"/>
              <a:t>moon</a:t>
            </a:r>
            <a:r>
              <a:rPr lang="pt-PT" i="1" dirty="0"/>
              <a:t>, </a:t>
            </a:r>
            <a:r>
              <a:rPr lang="pt-PT" i="1" dirty="0" err="1"/>
              <a:t>June</a:t>
            </a:r>
            <a:r>
              <a:rPr lang="pt-PT" dirty="0"/>
              <a:t>) é, muitas vezes, um óbice à tradução em verso</a:t>
            </a:r>
          </a:p>
          <a:p>
            <a:r>
              <a:rPr lang="pt-PT" dirty="0" err="1">
                <a:hlinkClick r:id="rId2"/>
              </a:rPr>
              <a:t>https</a:t>
            </a:r>
            <a:r>
              <a:rPr lang="pt-PT" dirty="0">
                <a:hlinkClick r:id="rId2"/>
              </a:rPr>
              <a:t>://</a:t>
            </a:r>
            <a:r>
              <a:rPr lang="pt-PT" dirty="0" err="1">
                <a:hlinkClick r:id="rId2"/>
              </a:rPr>
              <a:t>www.youtube.com</a:t>
            </a:r>
            <a:r>
              <a:rPr lang="pt-PT" dirty="0">
                <a:hlinkClick r:id="rId2"/>
              </a:rPr>
              <a:t>/</a:t>
            </a:r>
            <a:r>
              <a:rPr lang="pt-PT" dirty="0" err="1">
                <a:hlinkClick r:id="rId2"/>
              </a:rPr>
              <a:t>watch?v</a:t>
            </a:r>
            <a:r>
              <a:rPr lang="pt-PT" dirty="0">
                <a:hlinkClick r:id="rId2"/>
              </a:rPr>
              <a:t>=_</a:t>
            </a:r>
            <a:r>
              <a:rPr lang="pt-PT" dirty="0" err="1">
                <a:hlinkClick r:id="rId2"/>
              </a:rPr>
              <a:t>t_kkjAhDNw&amp;t</a:t>
            </a:r>
            <a:r>
              <a:rPr lang="pt-PT" dirty="0">
                <a:hlinkClick r:id="rId2"/>
              </a:rPr>
              <a:t>=65s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0975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texto, captura de ecrã, Tipo de letra, número&#10;&#10;Descrição gerada automaticamente">
            <a:extLst>
              <a:ext uri="{FF2B5EF4-FFF2-40B4-BE49-F238E27FC236}">
                <a16:creationId xmlns:a16="http://schemas.microsoft.com/office/drawing/2014/main" id="{3664B4BD-0A8C-5208-96D5-F7ABDB154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79" y="643466"/>
            <a:ext cx="781904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17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PT"/>
              <a:t>Condições e desafios da tradução de poesia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938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É geralmente ”aberta” (por ex., bilingue, a invisibilidade não se lhe aplica tanto)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Imagética e literalidade das palavras muitas vezes pedem tradução recreativa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Tipos de tradução de verso segundo Holmes: </a:t>
            </a:r>
            <a:r>
              <a:rPr lang="pt-PT" b="1"/>
              <a:t>imitativa </a:t>
            </a:r>
            <a:r>
              <a:rPr lang="pt-PT"/>
              <a:t>(forma igual à do TP), </a:t>
            </a:r>
            <a:r>
              <a:rPr lang="pt-PT" b="1"/>
              <a:t>analógica</a:t>
            </a:r>
            <a:r>
              <a:rPr lang="pt-PT"/>
              <a:t> (forma equivalente à do TP),</a:t>
            </a:r>
            <a:r>
              <a:rPr lang="pt-PT" b="1"/>
              <a:t> orgânica </a:t>
            </a:r>
            <a:r>
              <a:rPr lang="pt-PT"/>
              <a:t>(talvez a que parte do “húmus” da língua de tradução – ver João Barrento</a:t>
            </a:r>
            <a:r>
              <a:rPr lang="pt-PT" b="1"/>
              <a:t>), ex-cêntrica</a:t>
            </a:r>
            <a:r>
              <a:rPr lang="pt-PT"/>
              <a:t> (alterações por motivos de conveniência, ou de “agenda”, geralmente do poeta-tradutor)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Vantagens e desvantagens de tradução em rima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Diferentes atitudes para com a variedade linguística: replicação, analogia, substituição, padronização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PT"/>
              <a:t>Processos da Tradução de poesia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dirty="0"/>
              <a:t>Geralmente implica várias versões (p. 3); adição da professora: importância da “oralização”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dirty="0"/>
              <a:t>Podemos ter um “informante nativo” e um tradutor (poeta ou não)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dirty="0"/>
              <a:t>Trabalho em proximidade com o autor, quando possível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dirty="0"/>
              <a:t>Forma do poema pode determinar as “unidades de tradução”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dirty="0"/>
              <a:t>Relevância dos problemas lexicais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dirty="0"/>
              <a:t>“Técnica de tradução? Não há técnica de tradução. Ou melhor, há milhentas técnicas, tantas quantas os tradutores, tantas quantas os poetas se não os poemas” (p. 650)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PT"/>
              <a:t>Trabalho em rede do tradutor</a:t>
            </a: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Tradutor pode fazer tarefas não-tradutórias: seleção, fixação de texto...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Importante relação com editor, revisor, autor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Poeta em relação com leitor de língua nativa</a:t>
            </a:r>
            <a:endParaRPr/>
          </a:p>
          <a:p>
            <a:pPr marL="228600" lvl="0" indent="-165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pt-PT"/>
              <a:t>O poeta e o seu tradutor e os tradutores-poetas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“Multi-agência”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“Comunidades de interesse”: leitores, críticos + disseminação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PT"/>
              <a:t>Projetos de Tradução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dirty="0"/>
              <a:t>Produzem geralmente um “complexo de textos” – antologias, coletâneas, etc.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dirty="0"/>
              <a:t>Podem ter o objetivo de divulgar um poeta ou grupo, mas também de promover um ponto de vista sobre a cultura de partida (político-ideológico)</a:t>
            </a:r>
            <a:endParaRPr dirty="0"/>
          </a:p>
          <a:p>
            <a:pPr marL="228600" lvl="0" indent="-1651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pt-PT" dirty="0"/>
              <a:t>Começar a consultar textos para trabalhos finais…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PT"/>
              <a:t>Motivação e Fatores Afetivos</a:t>
            </a:r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Paixão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/>
              <a:t>“Verdade é que a poesia – e maximamente a poesia lírica – só pode ser recebida por quem esteja predisposto a abrir-se </a:t>
            </a:r>
            <a:r>
              <a:rPr lang="pt-PT" i="1"/>
              <a:t>incondicionalmente</a:t>
            </a:r>
            <a:r>
              <a:rPr lang="pt-PT"/>
              <a:t> a ela e se sentir capaz de, em certa maneira, aderir e se identificar com o poeta. O trabalho crítico é posterior e complementar. Nascida de estados afetivos ou emocionais determinados, a poesia intima ou provoca em quem a lê um estado aparentado ao que lhe deu origem na alma do poeta (embora, na maioria dos casos, não tão intensa), e faz do leitor momentaneamente um </a:t>
            </a:r>
            <a:r>
              <a:rPr lang="pt-PT" i="1"/>
              <a:t>poeta </a:t>
            </a:r>
            <a:r>
              <a:rPr lang="pt-PT"/>
              <a:t>também.” (Paulo Quintela)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B808A-E297-DD3D-AA73-37B61FE6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Tradução e Tradição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FCE6628-21BE-8FD0-A1A8-801B5F5EB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pt-PT" dirty="0"/>
              <a:t>Ou Tradução (de poesia) e Intertextualidade</a:t>
            </a:r>
          </a:p>
          <a:p>
            <a:pPr marL="114300" indent="0">
              <a:buNone/>
            </a:pPr>
            <a:r>
              <a:rPr lang="pt-PT" dirty="0"/>
              <a:t>Algumas referências:</a:t>
            </a:r>
          </a:p>
          <a:p>
            <a:pPr marL="114300" indent="0">
              <a:buNone/>
            </a:pP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Flor, João de Almeida. “Tradução e Tradição.” II Jornadas de Tradução Literária. Lisboa. GUELF, 1983, pp. 9-19</a:t>
            </a:r>
          </a:p>
        </p:txBody>
      </p:sp>
      <p:pic>
        <p:nvPicPr>
          <p:cNvPr id="5" name="Imagem 4" descr="Uma imagem com texto, Tipo de letra, branco, recibo&#10;&#10;Descrição gerada automaticamente">
            <a:extLst>
              <a:ext uri="{FF2B5EF4-FFF2-40B4-BE49-F238E27FC236}">
                <a16:creationId xmlns:a16="http://schemas.microsoft.com/office/drawing/2014/main" id="{682EF674-AF06-9CAF-0802-F5102DB0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16" y="3526273"/>
            <a:ext cx="10660084" cy="305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05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15BC10-8459-DF65-3940-40932E7D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t-PT" sz="4200" dirty="0" err="1"/>
              <a:t>Lefevere</a:t>
            </a:r>
            <a:r>
              <a:rPr lang="pt-PT" sz="4200" dirty="0"/>
              <a:t>, André. “</a:t>
            </a:r>
            <a:r>
              <a:rPr lang="pt-PT" sz="4200" dirty="0" err="1"/>
              <a:t>Why</a:t>
            </a:r>
            <a:r>
              <a:rPr lang="pt-PT" sz="4200" dirty="0"/>
              <a:t> </a:t>
            </a:r>
            <a:r>
              <a:rPr lang="pt-PT" sz="4200" dirty="0" err="1"/>
              <a:t>Waste</a:t>
            </a:r>
            <a:r>
              <a:rPr lang="pt-PT" sz="4200" dirty="0"/>
              <a:t> </a:t>
            </a:r>
            <a:r>
              <a:rPr lang="pt-PT" sz="4200" dirty="0" err="1"/>
              <a:t>our</a:t>
            </a:r>
            <a:r>
              <a:rPr lang="pt-PT" sz="4200" dirty="0"/>
              <a:t> Time in </a:t>
            </a:r>
            <a:r>
              <a:rPr lang="pt-PT" sz="4200" dirty="0" err="1"/>
              <a:t>Rewrites</a:t>
            </a:r>
            <a:r>
              <a:rPr lang="pt-PT" sz="4200" dirty="0"/>
              <a:t>?”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59789AD-2AC4-7BBE-F22B-20B531388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pt-PT" sz="2200" dirty="0"/>
          </a:p>
        </p:txBody>
      </p:sp>
      <p:pic>
        <p:nvPicPr>
          <p:cNvPr id="5" name="Imagem 4" descr="Uma imagem com texto, diagrama, file, Paralelo&#10;&#10;Descrição gerada automaticamente">
            <a:extLst>
              <a:ext uri="{FF2B5EF4-FFF2-40B4-BE49-F238E27FC236}">
                <a16:creationId xmlns:a16="http://schemas.microsoft.com/office/drawing/2014/main" id="{829FEE1B-AB45-0139-9A80-52E36308A8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" r="-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86574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17681-F3A2-7208-7F03-7E876E8F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Teste e T. P. C.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CD3F75E-034F-C007-8E5E-C6EBB3A99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No texto haverá 2 poemas para traduzir, à escolha</a:t>
            </a:r>
          </a:p>
          <a:p>
            <a:r>
              <a:rPr lang="pt-PT" dirty="0"/>
              <a:t>Identificar quatro elementos importantes de poeticidade do texto e como estes foram tratados na tradução</a:t>
            </a:r>
          </a:p>
          <a:p>
            <a:r>
              <a:rPr lang="pt-PT" dirty="0"/>
              <a:t>T.P.C. ler os dois folhetos do “</a:t>
            </a:r>
            <a:r>
              <a:rPr lang="pt-PT" dirty="0" err="1"/>
              <a:t>manul</a:t>
            </a:r>
            <a:r>
              <a:rPr lang="pt-PT" dirty="0"/>
              <a:t> lírico” no no moodle para reflexão sobre poesia e tradução / revisões na aula de 23 de março</a:t>
            </a:r>
          </a:p>
        </p:txBody>
      </p:sp>
    </p:spTree>
    <p:extLst>
      <p:ext uri="{BB962C8B-B14F-4D97-AF65-F5344CB8AC3E}">
        <p14:creationId xmlns:p14="http://schemas.microsoft.com/office/powerpoint/2010/main" val="1963860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781</Words>
  <Application>Microsoft Macintosh PowerPoint</Application>
  <PresentationFormat>Ecrã Panorâmico</PresentationFormat>
  <Paragraphs>56</Paragraphs>
  <Slides>13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Tema do Office</vt:lpstr>
      <vt:lpstr>Tradução de poesia</vt:lpstr>
      <vt:lpstr>Qual a tua definição de poesia?</vt:lpstr>
      <vt:lpstr>Francis R. Jones, “Poetry Translation”</vt:lpstr>
      <vt:lpstr>Relações fonte-alvo </vt:lpstr>
      <vt:lpstr>Apresentação do PowerPoint</vt:lpstr>
      <vt:lpstr>Condições e desafios da tradução de poesia</vt:lpstr>
      <vt:lpstr>Processos da Tradução de poesia</vt:lpstr>
      <vt:lpstr>Trabalho em rede do tradutor</vt:lpstr>
      <vt:lpstr>Projetos de Tradução</vt:lpstr>
      <vt:lpstr>Motivação e Fatores Afetivos</vt:lpstr>
      <vt:lpstr>Tradução e Tradição</vt:lpstr>
      <vt:lpstr>Lefevere, André. “Why Waste our Time in Rewrites?”</vt:lpstr>
      <vt:lpstr>Teste e T. P. C.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Microsoft Office User</cp:lastModifiedBy>
  <cp:revision>2</cp:revision>
  <dcterms:created xsi:type="dcterms:W3CDTF">2019-11-04T19:04:08Z</dcterms:created>
  <dcterms:modified xsi:type="dcterms:W3CDTF">2026-03-15T18:53:39Z</dcterms:modified>
</cp:coreProperties>
</file>