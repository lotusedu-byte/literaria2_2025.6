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4" r:id="rId3"/>
    <p:sldId id="257" r:id="rId4"/>
    <p:sldId id="265" r:id="rId5"/>
    <p:sldId id="258" r:id="rId6"/>
    <p:sldId id="259" r:id="rId7"/>
    <p:sldId id="260" r:id="rId8"/>
    <p:sldId id="261" r:id="rId9"/>
    <p:sldId id="262" r:id="rId10"/>
    <p:sldId id="263"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08"/>
    <p:restoredTop sz="94610"/>
  </p:normalViewPr>
  <p:slideViewPr>
    <p:cSldViewPr snapToGrid="0" snapToObjects="1">
      <p:cViewPr varScale="1">
        <p:scale>
          <a:sx n="93" d="100"/>
          <a:sy n="93" d="100"/>
        </p:scale>
        <p:origin x="-600" y="8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0561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2.png"/><Relationship Id="rId9"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2.png"/><Relationship Id="rId9"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5.jpe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png"/><Relationship Id="rId7"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620000"/>
          </a:xfrm>
          <a:prstGeom prst="rect">
            <a:avLst/>
          </a:prstGeom>
        </p:spPr>
      </p:pic>
      <p:pic>
        <p:nvPicPr>
          <p:cNvPr id="3" name="Image 1" descr="preencoded.png"/>
          <p:cNvPicPr>
            <a:picLocks noChangeAspect="1"/>
          </p:cNvPicPr>
          <p:nvPr/>
        </p:nvPicPr>
        <p:blipFill>
          <a:blip r:embed="rId4"/>
          <a:stretch>
            <a:fillRect/>
          </a:stretch>
        </p:blipFill>
        <p:spPr>
          <a:xfrm>
            <a:off x="0" y="381000"/>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5619750" y="2371725"/>
            <a:ext cx="952500" cy="952500"/>
          </a:xfrm>
          <a:prstGeom prst="rect">
            <a:avLst/>
          </a:prstGeom>
        </p:spPr>
      </p:pic>
      <p:sp>
        <p:nvSpPr>
          <p:cNvPr id="5" name="Text 0"/>
          <p:cNvSpPr/>
          <p:nvPr/>
        </p:nvSpPr>
        <p:spPr>
          <a:xfrm>
            <a:off x="-3933825" y="3619500"/>
            <a:ext cx="20059650" cy="714375"/>
          </a:xfrm>
          <a:prstGeom prst="rect">
            <a:avLst/>
          </a:prstGeom>
          <a:noFill/>
          <a:ln/>
        </p:spPr>
        <p:txBody>
          <a:bodyPr vert="horz" wrap="square" lIns="0" tIns="0" rIns="0" bIns="0" rtlCol="0" anchor="ctr"/>
          <a:lstStyle/>
          <a:p>
            <a:pPr marL="0" indent="0" algn="ctr">
              <a:buNone/>
            </a:pPr>
            <a:r>
              <a:rPr lang="en-US" sz="4875" b="1" dirty="0">
                <a:solidFill>
                  <a:srgbClr val="9A3412"/>
                </a:solidFill>
                <a:latin typeface="Comfortaa" pitchFamily="34" charset="0"/>
                <a:ea typeface="Comfortaa" pitchFamily="34" charset="-122"/>
                <a:cs typeface="Comfortaa" pitchFamily="34" charset="-120"/>
              </a:rPr>
              <a:t>Formas de Tradução de Verso</a:t>
            </a:r>
            <a:endParaRPr lang="en-US" sz="4875" dirty="0"/>
          </a:p>
        </p:txBody>
      </p:sp>
      <p:sp>
        <p:nvSpPr>
          <p:cNvPr id="6" name="Text 1"/>
          <p:cNvSpPr/>
          <p:nvPr/>
        </p:nvSpPr>
        <p:spPr>
          <a:xfrm>
            <a:off x="-670560" y="4524375"/>
            <a:ext cx="13533120" cy="457200"/>
          </a:xfrm>
          <a:prstGeom prst="rect">
            <a:avLst/>
          </a:prstGeom>
          <a:noFill/>
          <a:ln/>
        </p:spPr>
        <p:txBody>
          <a:bodyPr vert="horz" wrap="square" lIns="0" tIns="0" rIns="0" bIns="0" rtlCol="0" anchor="ctr"/>
          <a:lstStyle/>
          <a:p>
            <a:pPr marL="0" indent="0" algn="ctr">
              <a:lnSpc>
                <a:spcPts val="3600"/>
              </a:lnSpc>
              <a:buNone/>
            </a:pPr>
            <a:r>
              <a:rPr lang="en-US" sz="2400" dirty="0">
                <a:solidFill>
                  <a:srgbClr val="EA580C"/>
                </a:solidFill>
                <a:latin typeface="Afacad Flux" pitchFamily="34" charset="0"/>
                <a:ea typeface="Afacad Flux" pitchFamily="34" charset="-122"/>
                <a:cs typeface="Afacad Flux" pitchFamily="34" charset="-120"/>
              </a:rPr>
              <a:t>James S. Holmes e a Tradução da Forma</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620000"/>
          </a:xfrm>
          <a:prstGeom prst="rect">
            <a:avLst/>
          </a:prstGeom>
        </p:spPr>
      </p:pic>
      <p:pic>
        <p:nvPicPr>
          <p:cNvPr id="3" name="Image 1" descr="preencoded.png"/>
          <p:cNvPicPr>
            <a:picLocks noChangeAspect="1"/>
          </p:cNvPicPr>
          <p:nvPr/>
        </p:nvPicPr>
        <p:blipFill>
          <a:blip r:embed="rId4"/>
          <a:stretch>
            <a:fillRect/>
          </a:stretch>
        </p:blipFill>
        <p:spPr>
          <a:xfrm>
            <a:off x="0" y="381000"/>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381000" y="1257300"/>
            <a:ext cx="11430000" cy="5238750"/>
          </a:xfrm>
          <a:prstGeom prst="rect">
            <a:avLst/>
          </a:prstGeom>
        </p:spPr>
      </p:pic>
      <p:pic>
        <p:nvPicPr>
          <p:cNvPr id="5" name="Image 3" descr="preencoded.png"/>
          <p:cNvPicPr>
            <a:picLocks noChangeAspect="1"/>
          </p:cNvPicPr>
          <p:nvPr/>
        </p:nvPicPr>
        <p:blipFill>
          <a:blip r:embed="rId6"/>
          <a:stretch>
            <a:fillRect/>
          </a:stretch>
        </p:blipFill>
        <p:spPr>
          <a:xfrm>
            <a:off x="381000" y="1257300"/>
            <a:ext cx="11430000" cy="5238750"/>
          </a:xfrm>
          <a:prstGeom prst="rect">
            <a:avLst/>
          </a:prstGeom>
        </p:spPr>
      </p:pic>
      <p:sp>
        <p:nvSpPr>
          <p:cNvPr id="6" name="Text 0"/>
          <p:cNvSpPr/>
          <p:nvPr/>
        </p:nvSpPr>
        <p:spPr>
          <a:xfrm>
            <a:off x="381000" y="504825"/>
            <a:ext cx="19613880" cy="561975"/>
          </a:xfrm>
          <a:prstGeom prst="rect">
            <a:avLst/>
          </a:prstGeom>
          <a:noFill/>
          <a:ln/>
        </p:spPr>
        <p:txBody>
          <a:bodyPr vert="horz" wrap="square" lIns="0" tIns="0" rIns="0" bIns="0" rtlCol="0" anchor="ctr"/>
          <a:lstStyle/>
          <a:p>
            <a:pPr marL="0" indent="0" algn="l">
              <a:buNone/>
            </a:pPr>
            <a:r>
              <a:rPr lang="en-US" sz="3900" b="1" dirty="0">
                <a:solidFill>
                  <a:srgbClr val="9A3412"/>
                </a:solidFill>
                <a:latin typeface="Comfortaa" pitchFamily="34" charset="0"/>
                <a:ea typeface="Comfortaa" pitchFamily="34" charset="-122"/>
                <a:cs typeface="Comfortaa" pitchFamily="34" charset="-120"/>
              </a:rPr>
              <a:t>As Sete Formas de Meta-literatura</a:t>
            </a:r>
            <a:endParaRPr lang="en-US" sz="3900" dirty="0"/>
          </a:p>
        </p:txBody>
      </p:sp>
      <p:sp>
        <p:nvSpPr>
          <p:cNvPr id="7" name="Text 1"/>
          <p:cNvSpPr/>
          <p:nvPr/>
        </p:nvSpPr>
        <p:spPr>
          <a:xfrm>
            <a:off x="381000" y="6638925"/>
            <a:ext cx="11430000" cy="285750"/>
          </a:xfrm>
          <a:prstGeom prst="rect">
            <a:avLst/>
          </a:prstGeom>
          <a:noFill/>
          <a:ln/>
        </p:spPr>
        <p:txBody>
          <a:bodyPr vert="horz" wrap="square" lIns="0" tIns="0" rIns="0" bIns="0" rtlCol="0" anchor="ctr"/>
          <a:lstStyle/>
          <a:p>
            <a:pPr marL="0" indent="0" algn="ctr">
              <a:lnSpc>
                <a:spcPts val="2250"/>
              </a:lnSpc>
              <a:buNone/>
            </a:pPr>
            <a:r>
              <a:rPr lang="en-US" sz="1500" i="1" dirty="0">
                <a:solidFill>
                  <a:srgbClr val="572E26"/>
                </a:solidFill>
                <a:latin typeface="Afacad Flux" pitchFamily="34" charset="0"/>
                <a:ea typeface="Afacad Flux" pitchFamily="34" charset="-122"/>
                <a:cs typeface="Afacad Flux" pitchFamily="34" charset="-120"/>
              </a:rPr>
              <a:t>Esquema extraído da página 92.</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620000"/>
          </a:xfrm>
          <a:prstGeom prst="rect">
            <a:avLst/>
          </a:prstGeom>
        </p:spPr>
      </p:pic>
      <p:pic>
        <p:nvPicPr>
          <p:cNvPr id="3" name="Image 1" descr="preencoded.png"/>
          <p:cNvPicPr>
            <a:picLocks noChangeAspect="1"/>
          </p:cNvPicPr>
          <p:nvPr/>
        </p:nvPicPr>
        <p:blipFill>
          <a:blip r:embed="rId4"/>
          <a:stretch>
            <a:fillRect/>
          </a:stretch>
        </p:blipFill>
        <p:spPr>
          <a:xfrm>
            <a:off x="0" y="381000"/>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1809750" y="3943350"/>
            <a:ext cx="8572500" cy="1828800"/>
          </a:xfrm>
          <a:prstGeom prst="rect">
            <a:avLst/>
          </a:prstGeom>
        </p:spPr>
      </p:pic>
      <p:sp>
        <p:nvSpPr>
          <p:cNvPr id="5" name="Text 0"/>
          <p:cNvSpPr/>
          <p:nvPr/>
        </p:nvSpPr>
        <p:spPr>
          <a:xfrm>
            <a:off x="381000" y="1847850"/>
            <a:ext cx="11430000" cy="1524000"/>
          </a:xfrm>
          <a:prstGeom prst="rect">
            <a:avLst/>
          </a:prstGeom>
          <a:noFill/>
          <a:ln/>
        </p:spPr>
        <p:txBody>
          <a:bodyPr vert="horz" wrap="square" lIns="0" tIns="0" rIns="0" bIns="0" rtlCol="0" anchor="ctr"/>
          <a:lstStyle/>
          <a:p>
            <a:pPr marL="0" indent="0" algn="ctr">
              <a:buNone/>
            </a:pPr>
            <a:r>
              <a:rPr lang="en-US" sz="5250" b="1" dirty="0">
                <a:solidFill>
                  <a:srgbClr val="EA580C"/>
                </a:solidFill>
                <a:latin typeface="Comfortaa" pitchFamily="34" charset="0"/>
                <a:ea typeface="Comfortaa" pitchFamily="34" charset="-122"/>
                <a:cs typeface="Comfortaa" pitchFamily="34" charset="-120"/>
              </a:rPr>
              <a:t>O Metapoema em língua estrangeira ou o poema traduzido
</a:t>
            </a:r>
            <a:endParaRPr lang="en-US" sz="5250" dirty="0"/>
          </a:p>
        </p:txBody>
      </p:sp>
      <p:sp>
        <p:nvSpPr>
          <p:cNvPr id="6" name="Text 1"/>
          <p:cNvSpPr/>
          <p:nvPr/>
        </p:nvSpPr>
        <p:spPr>
          <a:xfrm>
            <a:off x="2000250" y="3943350"/>
            <a:ext cx="8382000" cy="1828800"/>
          </a:xfrm>
          <a:prstGeom prst="rect">
            <a:avLst/>
          </a:prstGeom>
          <a:noFill/>
          <a:ln/>
        </p:spPr>
        <p:txBody>
          <a:bodyPr vert="horz" wrap="square" lIns="0" tIns="0" rIns="0" bIns="0" rtlCol="0" anchor="ctr"/>
          <a:lstStyle/>
          <a:p>
            <a:pPr marL="0" indent="0" algn="l">
              <a:buNone/>
            </a:pPr>
            <a:r>
              <a:rPr lang="en-US" sz="2100" i="1" dirty="0">
                <a:solidFill>
                  <a:srgbClr val="7C2D12"/>
                </a:solidFill>
                <a:latin typeface="Playfair Display" pitchFamily="34" charset="0"/>
                <a:ea typeface="Playfair Display" pitchFamily="34" charset="-122"/>
                <a:cs typeface="Playfair Display" pitchFamily="34" charset="-120"/>
              </a:rPr>
              <a:t>"the metapoem is a nexus of a complex bundle of relationships converging from two directions: from the original poem, in its language, and linked in a very specific way to the poetic tradition of that language; and from the poetic tradition of the target language, with its more or less stringent expectations regarding poetry which the metapoem, if it is to be successful as poetry, must in some measure meet." (p. 93).
</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620000"/>
          </a:xfrm>
          <a:prstGeom prst="rect">
            <a:avLst/>
          </a:prstGeom>
        </p:spPr>
      </p:pic>
      <p:pic>
        <p:nvPicPr>
          <p:cNvPr id="3" name="Image 1" descr="preencoded.png"/>
          <p:cNvPicPr>
            <a:picLocks noChangeAspect="1"/>
          </p:cNvPicPr>
          <p:nvPr/>
        </p:nvPicPr>
        <p:blipFill>
          <a:blip r:embed="rId4"/>
          <a:stretch>
            <a:fillRect/>
          </a:stretch>
        </p:blipFill>
        <p:spPr>
          <a:xfrm>
            <a:off x="0" y="381000"/>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381000" y="1257300"/>
            <a:ext cx="11430000" cy="5238750"/>
          </a:xfrm>
          <a:prstGeom prst="rect">
            <a:avLst/>
          </a:prstGeom>
        </p:spPr>
      </p:pic>
      <p:pic>
        <p:nvPicPr>
          <p:cNvPr id="5" name="Image 3" descr="preencoded.png"/>
          <p:cNvPicPr>
            <a:picLocks noChangeAspect="1"/>
          </p:cNvPicPr>
          <p:nvPr/>
        </p:nvPicPr>
        <p:blipFill>
          <a:blip r:embed="rId6"/>
          <a:stretch>
            <a:fillRect/>
          </a:stretch>
        </p:blipFill>
        <p:spPr>
          <a:xfrm>
            <a:off x="381000" y="1257300"/>
            <a:ext cx="11430000" cy="5238750"/>
          </a:xfrm>
          <a:prstGeom prst="rect">
            <a:avLst/>
          </a:prstGeom>
        </p:spPr>
      </p:pic>
      <p:sp>
        <p:nvSpPr>
          <p:cNvPr id="6" name="Text 0"/>
          <p:cNvSpPr/>
          <p:nvPr/>
        </p:nvSpPr>
        <p:spPr>
          <a:xfrm>
            <a:off x="381000" y="504825"/>
            <a:ext cx="23774400" cy="561975"/>
          </a:xfrm>
          <a:prstGeom prst="rect">
            <a:avLst/>
          </a:prstGeom>
          <a:noFill/>
          <a:ln/>
        </p:spPr>
        <p:txBody>
          <a:bodyPr vert="horz" wrap="square" lIns="0" tIns="0" rIns="0" bIns="0" rtlCol="0" anchor="ctr"/>
          <a:lstStyle/>
          <a:p>
            <a:pPr marL="0" indent="0" algn="l">
              <a:buNone/>
            </a:pPr>
            <a:r>
              <a:rPr lang="en-US" sz="3900" b="1" dirty="0">
                <a:solidFill>
                  <a:srgbClr val="9A3412"/>
                </a:solidFill>
                <a:latin typeface="Comfortaa" pitchFamily="34" charset="0"/>
                <a:ea typeface="Comfortaa" pitchFamily="34" charset="-122"/>
                <a:cs typeface="Comfortaa" pitchFamily="34" charset="-120"/>
              </a:rPr>
              <a:t>Relação entre Poema Original e Metapoema</a:t>
            </a:r>
            <a:endParaRPr lang="en-US" sz="3900" dirty="0"/>
          </a:p>
        </p:txBody>
      </p:sp>
      <p:sp>
        <p:nvSpPr>
          <p:cNvPr id="7" name="Text 1"/>
          <p:cNvSpPr/>
          <p:nvPr/>
        </p:nvSpPr>
        <p:spPr>
          <a:xfrm>
            <a:off x="381000" y="6638925"/>
            <a:ext cx="11430000" cy="285750"/>
          </a:xfrm>
          <a:prstGeom prst="rect">
            <a:avLst/>
          </a:prstGeom>
          <a:noFill/>
          <a:ln/>
        </p:spPr>
        <p:txBody>
          <a:bodyPr vert="horz" wrap="square" lIns="0" tIns="0" rIns="0" bIns="0" rtlCol="0" anchor="ctr"/>
          <a:lstStyle/>
          <a:p>
            <a:pPr marL="0" indent="0" algn="ctr">
              <a:lnSpc>
                <a:spcPts val="2250"/>
              </a:lnSpc>
              <a:buNone/>
            </a:pPr>
            <a:r>
              <a:rPr lang="en-US" sz="1500" i="1" dirty="0">
                <a:solidFill>
                  <a:srgbClr val="572E26"/>
                </a:solidFill>
                <a:latin typeface="Afacad Flux" pitchFamily="34" charset="0"/>
                <a:ea typeface="Afacad Flux" pitchFamily="34" charset="-122"/>
                <a:cs typeface="Afacad Flux" pitchFamily="34" charset="-120"/>
              </a:rPr>
              <a:t>Esquema extraído da página 94.</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620000"/>
          </a:xfrm>
          <a:prstGeom prst="rect">
            <a:avLst/>
          </a:prstGeom>
        </p:spPr>
      </p:pic>
      <p:pic>
        <p:nvPicPr>
          <p:cNvPr id="3" name="Image 1" descr="preencoded.png"/>
          <p:cNvPicPr>
            <a:picLocks noChangeAspect="1"/>
          </p:cNvPicPr>
          <p:nvPr/>
        </p:nvPicPr>
        <p:blipFill>
          <a:blip r:embed="rId4"/>
          <a:stretch>
            <a:fillRect/>
          </a:stretch>
        </p:blipFill>
        <p:spPr>
          <a:xfrm>
            <a:off x="0" y="381000"/>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381000" y="5160615"/>
            <a:ext cx="1713012" cy="613321"/>
          </a:xfrm>
          <a:prstGeom prst="rect">
            <a:avLst/>
          </a:prstGeom>
        </p:spPr>
      </p:pic>
      <p:pic>
        <p:nvPicPr>
          <p:cNvPr id="5" name="Image 3" descr="preencoded.png"/>
          <p:cNvPicPr>
            <a:picLocks noChangeAspect="1"/>
          </p:cNvPicPr>
          <p:nvPr/>
        </p:nvPicPr>
        <p:blipFill>
          <a:blip r:embed="rId6"/>
          <a:stretch>
            <a:fillRect/>
          </a:stretch>
        </p:blipFill>
        <p:spPr>
          <a:xfrm>
            <a:off x="6334125" y="2043113"/>
            <a:ext cx="5476875" cy="4286250"/>
          </a:xfrm>
          <a:prstGeom prst="rect">
            <a:avLst/>
          </a:prstGeom>
        </p:spPr>
      </p:pic>
      <p:sp>
        <p:nvSpPr>
          <p:cNvPr id="7" name="Text 0"/>
          <p:cNvSpPr/>
          <p:nvPr/>
        </p:nvSpPr>
        <p:spPr>
          <a:xfrm>
            <a:off x="381000" y="762000"/>
            <a:ext cx="11430000" cy="561975"/>
          </a:xfrm>
          <a:prstGeom prst="rect">
            <a:avLst/>
          </a:prstGeom>
          <a:noFill/>
          <a:ln/>
        </p:spPr>
        <p:txBody>
          <a:bodyPr vert="horz" wrap="square" lIns="0" tIns="0" rIns="0" bIns="0" rtlCol="0" anchor="ctr"/>
          <a:lstStyle/>
          <a:p>
            <a:pPr marL="0" indent="0" algn="l">
              <a:buNone/>
            </a:pPr>
            <a:r>
              <a:rPr lang="en-US" sz="3900" b="1" dirty="0">
                <a:solidFill>
                  <a:srgbClr val="9A3412"/>
                </a:solidFill>
                <a:latin typeface="Comfortaa" pitchFamily="34" charset="0"/>
                <a:ea typeface="Comfortaa" pitchFamily="34" charset="-122"/>
                <a:cs typeface="Comfortaa" pitchFamily="34" charset="-120"/>
              </a:rPr>
              <a:t>Forma Mimética</a:t>
            </a:r>
            <a:endParaRPr lang="en-US" sz="3900" dirty="0"/>
          </a:p>
        </p:txBody>
      </p:sp>
      <p:sp>
        <p:nvSpPr>
          <p:cNvPr id="8" name="Text 1"/>
          <p:cNvSpPr/>
          <p:nvPr/>
        </p:nvSpPr>
        <p:spPr>
          <a:xfrm>
            <a:off x="381000" y="2731740"/>
            <a:ext cx="5476875" cy="685800"/>
          </a:xfrm>
          <a:prstGeom prst="rect">
            <a:avLst/>
          </a:prstGeom>
          <a:noFill/>
          <a:ln/>
        </p:spPr>
        <p:txBody>
          <a:bodyPr vert="horz" wrap="square" lIns="0" tIns="0" rIns="0" bIns="0" rtlCol="0" anchor="ctr"/>
          <a:lstStyle/>
          <a:p>
            <a:pPr marL="0" indent="0">
              <a:lnSpc>
                <a:spcPts val="2700"/>
              </a:lnSpc>
              <a:buNone/>
            </a:pPr>
            <a:r>
              <a:rPr lang="en-US" sz="1800" dirty="0">
                <a:solidFill>
                  <a:srgbClr val="572E26"/>
                </a:solidFill>
                <a:latin typeface="Afacad Flux" pitchFamily="34" charset="0"/>
                <a:ea typeface="Afacad Flux" pitchFamily="34" charset="-122"/>
                <a:cs typeface="Afacad Flux" pitchFamily="34" charset="-120"/>
              </a:rPr>
              <a:t>O tradutor replica a forma original o mais fielmente possível.</a:t>
            </a:r>
            <a:endParaRPr lang="en-US" sz="1800" dirty="0"/>
          </a:p>
        </p:txBody>
      </p:sp>
      <p:sp>
        <p:nvSpPr>
          <p:cNvPr id="9" name="Text 2"/>
          <p:cNvSpPr/>
          <p:nvPr/>
        </p:nvSpPr>
        <p:spPr>
          <a:xfrm>
            <a:off x="571500" y="3646140"/>
            <a:ext cx="11521440" cy="390525"/>
          </a:xfrm>
          <a:prstGeom prst="rect">
            <a:avLst/>
          </a:prstGeom>
          <a:noFill/>
          <a:ln/>
        </p:spPr>
        <p:txBody>
          <a:bodyPr vert="horz" wrap="square" lIns="0" tIns="0" rIns="0" bIns="0" rtlCol="0" anchor="ctr"/>
          <a:lstStyle/>
          <a:p>
            <a:pPr marL="0" indent="0" algn="l">
              <a:lnSpc>
                <a:spcPts val="2700"/>
              </a:lnSpc>
              <a:buNone/>
            </a:pPr>
            <a:r>
              <a:rPr lang="en-US" sz="1800" dirty="0">
                <a:solidFill>
                  <a:srgbClr val="572E26"/>
                </a:solidFill>
                <a:latin typeface="Afacad Flux" pitchFamily="34" charset="0"/>
                <a:ea typeface="Afacad Flux" pitchFamily="34" charset="-122"/>
                <a:cs typeface="Afacad Flux" pitchFamily="34" charset="-120"/>
              </a:rPr>
              <a:t>Foco exclusivo na forma do poema original.</a:t>
            </a:r>
            <a:endParaRPr lang="en-US" sz="1800" dirty="0"/>
          </a:p>
        </p:txBody>
      </p:sp>
      <p:sp>
        <p:nvSpPr>
          <p:cNvPr id="10" name="Text 3"/>
          <p:cNvSpPr/>
          <p:nvPr/>
        </p:nvSpPr>
        <p:spPr>
          <a:xfrm>
            <a:off x="571500" y="4179540"/>
            <a:ext cx="5286375" cy="733425"/>
          </a:xfrm>
          <a:prstGeom prst="rect">
            <a:avLst/>
          </a:prstGeom>
          <a:noFill/>
          <a:ln/>
        </p:spPr>
        <p:txBody>
          <a:bodyPr vert="horz" wrap="square" lIns="0" tIns="0" rIns="0" bIns="0" rtlCol="0" anchor="ctr"/>
          <a:lstStyle/>
          <a:p>
            <a:pPr marL="0" indent="0" algn="l">
              <a:lnSpc>
                <a:spcPts val="2700"/>
              </a:lnSpc>
              <a:buNone/>
            </a:pPr>
            <a:r>
              <a:rPr lang="en-US" sz="1800" dirty="0">
                <a:solidFill>
                  <a:srgbClr val="572E26"/>
                </a:solidFill>
                <a:latin typeface="Afacad Flux" pitchFamily="34" charset="0"/>
                <a:ea typeface="Afacad Flux" pitchFamily="34" charset="-122"/>
                <a:cs typeface="Afacad Flux" pitchFamily="34" charset="-120"/>
              </a:rPr>
              <a:t>Exemplo: soneto isabelino traduzido por soneto isabelino.</a:t>
            </a:r>
            <a:endParaRPr lang="en-US" sz="1800" dirty="0"/>
          </a:p>
        </p:txBody>
      </p:sp>
      <p:sp>
        <p:nvSpPr>
          <p:cNvPr id="11" name="Text 4"/>
          <p:cNvSpPr/>
          <p:nvPr/>
        </p:nvSpPr>
        <p:spPr>
          <a:xfrm>
            <a:off x="571500" y="5160615"/>
            <a:ext cx="1332012" cy="613321"/>
          </a:xfrm>
          <a:prstGeom prst="rect">
            <a:avLst/>
          </a:prstGeom>
          <a:noFill/>
          <a:ln/>
        </p:spPr>
        <p:txBody>
          <a:bodyPr vert="horz" wrap="square" lIns="0" tIns="0" rIns="0" bIns="0" rtlCol="0" anchor="ctr"/>
          <a:lstStyle/>
          <a:p>
            <a:pPr marL="0" indent="0">
              <a:buNone/>
            </a:pPr>
            <a:r>
              <a:rPr lang="en-US" sz="2400" b="1" dirty="0">
                <a:solidFill>
                  <a:srgbClr val="9A3412"/>
                </a:solidFill>
                <a:latin typeface="Playfair Display" pitchFamily="34" charset="0"/>
                <a:ea typeface="Playfair Display" pitchFamily="34" charset="-122"/>
                <a:cs typeface="Playfair Display" pitchFamily="34" charset="-120"/>
              </a:rPr>
              <a:t>F</a:t>
            </a:r>
            <a:r>
              <a:rPr lang="en-US" sz="2000" b="1" dirty="0">
                <a:solidFill>
                  <a:srgbClr val="9A3412"/>
                </a:solidFill>
                <a:latin typeface="Playfair Display" pitchFamily="34" charset="0"/>
                <a:ea typeface="Playfair Display" pitchFamily="34" charset="-122"/>
                <a:cs typeface="Playfair Display" pitchFamily="34" charset="-120"/>
              </a:rPr>
              <a:t>P</a:t>
            </a:r>
            <a:r>
              <a:rPr lang="en-US" sz="2400" b="1" dirty="0">
                <a:solidFill>
                  <a:srgbClr val="9A3412"/>
                </a:solidFill>
                <a:latin typeface="Playfair Display" pitchFamily="34" charset="0"/>
                <a:ea typeface="Playfair Display" pitchFamily="34" charset="-122"/>
                <a:cs typeface="Playfair Display" pitchFamily="34" charset="-120"/>
              </a:rPr>
              <a:t> ≅ F</a:t>
            </a:r>
            <a:r>
              <a:rPr lang="en-US" sz="2000" b="1" dirty="0">
                <a:solidFill>
                  <a:srgbClr val="9A3412"/>
                </a:solidFill>
                <a:latin typeface="Playfair Display" pitchFamily="34" charset="0"/>
                <a:ea typeface="Playfair Display" pitchFamily="34" charset="-122"/>
                <a:cs typeface="Playfair Display" pitchFamily="34" charset="-120"/>
              </a:rPr>
              <a:t>MP</a:t>
            </a:r>
            <a:endParaRPr lang="en-US" sz="2400" dirty="0"/>
          </a:p>
        </p:txBody>
      </p:sp>
      <p:pic>
        <p:nvPicPr>
          <p:cNvPr id="13" name="Imagem 12" descr="Uma imagem com texto, Tipo de letra, captura de ecrã, preto e branco&#10;&#10;Descrição gerada automaticamente">
            <a:extLst>
              <a:ext uri="{FF2B5EF4-FFF2-40B4-BE49-F238E27FC236}">
                <a16:creationId xmlns:a16="http://schemas.microsoft.com/office/drawing/2014/main" id="{F36E276A-AADA-E28F-8585-402886DB8311}"/>
              </a:ext>
            </a:extLst>
          </p:cNvPr>
          <p:cNvPicPr>
            <a:picLocks noChangeAspect="1"/>
          </p:cNvPicPr>
          <p:nvPr/>
        </p:nvPicPr>
        <p:blipFill>
          <a:blip r:embed="rId7"/>
          <a:stretch>
            <a:fillRect/>
          </a:stretch>
        </p:blipFill>
        <p:spPr>
          <a:xfrm>
            <a:off x="6471746" y="880893"/>
            <a:ext cx="5191125" cy="5593538"/>
          </a:xfrm>
          <a:prstGeom prst="rect">
            <a:avLst/>
          </a:prstGeom>
        </p:spPr>
      </p:pic>
      <p:sp>
        <p:nvSpPr>
          <p:cNvPr id="14" name="CaixaDeTexto 13">
            <a:extLst>
              <a:ext uri="{FF2B5EF4-FFF2-40B4-BE49-F238E27FC236}">
                <a16:creationId xmlns:a16="http://schemas.microsoft.com/office/drawing/2014/main" id="{72A19800-6DFF-C2A3-7623-8E832B29D9B2}"/>
              </a:ext>
            </a:extLst>
          </p:cNvPr>
          <p:cNvSpPr txBox="1"/>
          <p:nvPr/>
        </p:nvSpPr>
        <p:spPr>
          <a:xfrm>
            <a:off x="6234545" y="6622473"/>
            <a:ext cx="6197531" cy="369332"/>
          </a:xfrm>
          <a:prstGeom prst="rect">
            <a:avLst/>
          </a:prstGeom>
          <a:noFill/>
        </p:spPr>
        <p:txBody>
          <a:bodyPr wrap="square" rtlCol="0">
            <a:spAutoFit/>
          </a:bodyPr>
          <a:lstStyle/>
          <a:p>
            <a:r>
              <a:rPr lang="pt-PT" dirty="0"/>
              <a:t>Shakespeare, soneto XVIII, traduzido por Carlos de Oliveira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620000"/>
          </a:xfrm>
          <a:prstGeom prst="rect">
            <a:avLst/>
          </a:prstGeom>
        </p:spPr>
      </p:pic>
      <p:pic>
        <p:nvPicPr>
          <p:cNvPr id="3" name="Image 1" descr="preencoded.png"/>
          <p:cNvPicPr>
            <a:picLocks noChangeAspect="1"/>
          </p:cNvPicPr>
          <p:nvPr/>
        </p:nvPicPr>
        <p:blipFill>
          <a:blip r:embed="rId4"/>
          <a:stretch>
            <a:fillRect/>
          </a:stretch>
        </p:blipFill>
        <p:spPr>
          <a:xfrm>
            <a:off x="147637" y="285750"/>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381000" y="2514600"/>
            <a:ext cx="5476875" cy="3343275"/>
          </a:xfrm>
          <a:prstGeom prst="rect">
            <a:avLst/>
          </a:prstGeom>
        </p:spPr>
      </p:pic>
      <p:pic>
        <p:nvPicPr>
          <p:cNvPr id="5" name="Image 3" descr="preencoded.png"/>
          <p:cNvPicPr>
            <a:picLocks noChangeAspect="1"/>
          </p:cNvPicPr>
          <p:nvPr/>
        </p:nvPicPr>
        <p:blipFill>
          <a:blip r:embed="rId6"/>
          <a:stretch>
            <a:fillRect/>
          </a:stretch>
        </p:blipFill>
        <p:spPr>
          <a:xfrm>
            <a:off x="2867025" y="4848225"/>
            <a:ext cx="504825" cy="571500"/>
          </a:xfrm>
          <a:prstGeom prst="rect">
            <a:avLst/>
          </a:prstGeom>
        </p:spPr>
      </p:pic>
      <p:pic>
        <p:nvPicPr>
          <p:cNvPr id="6" name="Image 4" descr="preencoded.png"/>
          <p:cNvPicPr>
            <a:picLocks noChangeAspect="1"/>
          </p:cNvPicPr>
          <p:nvPr/>
        </p:nvPicPr>
        <p:blipFill>
          <a:blip r:embed="rId7"/>
          <a:stretch>
            <a:fillRect/>
          </a:stretch>
        </p:blipFill>
        <p:spPr>
          <a:xfrm>
            <a:off x="6334125" y="2514600"/>
            <a:ext cx="5476875" cy="3343275"/>
          </a:xfrm>
          <a:prstGeom prst="rect">
            <a:avLst/>
          </a:prstGeom>
        </p:spPr>
      </p:pic>
      <p:pic>
        <p:nvPicPr>
          <p:cNvPr id="7" name="Image 5" descr="preencoded.png"/>
          <p:cNvPicPr>
            <a:picLocks noChangeAspect="1"/>
          </p:cNvPicPr>
          <p:nvPr/>
        </p:nvPicPr>
        <p:blipFill>
          <a:blip r:embed="rId8"/>
          <a:stretch>
            <a:fillRect/>
          </a:stretch>
        </p:blipFill>
        <p:spPr>
          <a:xfrm>
            <a:off x="6715125" y="4812953"/>
            <a:ext cx="4714875" cy="479971"/>
          </a:xfrm>
          <a:prstGeom prst="rect">
            <a:avLst/>
          </a:prstGeom>
        </p:spPr>
      </p:pic>
      <p:sp>
        <p:nvSpPr>
          <p:cNvPr id="8" name="Text 0"/>
          <p:cNvSpPr/>
          <p:nvPr/>
        </p:nvSpPr>
        <p:spPr>
          <a:xfrm>
            <a:off x="381000" y="762000"/>
            <a:ext cx="11430000" cy="561975"/>
          </a:xfrm>
          <a:prstGeom prst="rect">
            <a:avLst/>
          </a:prstGeom>
          <a:noFill/>
          <a:ln/>
        </p:spPr>
        <p:txBody>
          <a:bodyPr vert="horz" wrap="square" lIns="0" tIns="0" rIns="0" bIns="0" rtlCol="0" anchor="ctr"/>
          <a:lstStyle/>
          <a:p>
            <a:pPr marL="0" indent="0" algn="l">
              <a:buNone/>
            </a:pPr>
            <a:r>
              <a:rPr lang="en-US" sz="3900" b="1" dirty="0">
                <a:solidFill>
                  <a:srgbClr val="9A3412"/>
                </a:solidFill>
                <a:latin typeface="Comfortaa" pitchFamily="34" charset="0"/>
                <a:ea typeface="Comfortaa" pitchFamily="34" charset="-122"/>
                <a:cs typeface="Comfortaa" pitchFamily="34" charset="-120"/>
              </a:rPr>
              <a:t>Forma Analógica</a:t>
            </a:r>
            <a:endParaRPr lang="en-US" sz="3900" dirty="0"/>
          </a:p>
        </p:txBody>
      </p:sp>
      <p:sp>
        <p:nvSpPr>
          <p:cNvPr id="9" name="Text 1"/>
          <p:cNvSpPr/>
          <p:nvPr/>
        </p:nvSpPr>
        <p:spPr>
          <a:xfrm>
            <a:off x="376238" y="2895600"/>
            <a:ext cx="5486400" cy="447675"/>
          </a:xfrm>
          <a:prstGeom prst="rect">
            <a:avLst/>
          </a:prstGeom>
          <a:noFill/>
          <a:ln/>
        </p:spPr>
        <p:txBody>
          <a:bodyPr vert="horz" wrap="square" lIns="0" tIns="0" rIns="0" bIns="0" rtlCol="0" anchor="ctr"/>
          <a:lstStyle/>
          <a:p>
            <a:pPr marL="0" indent="0" algn="ctr">
              <a:buNone/>
            </a:pPr>
            <a:r>
              <a:rPr lang="en-US" sz="3000" b="1" dirty="0" err="1">
                <a:solidFill>
                  <a:srgbClr val="EA580C"/>
                </a:solidFill>
                <a:latin typeface="Comfortaa" pitchFamily="34" charset="0"/>
                <a:ea typeface="Comfortaa" pitchFamily="34" charset="-122"/>
                <a:cs typeface="Comfortaa" pitchFamily="34" charset="-120"/>
              </a:rPr>
              <a:t>Equivalência</a:t>
            </a:r>
            <a:r>
              <a:rPr lang="en-US" sz="3000" b="1" dirty="0">
                <a:solidFill>
                  <a:srgbClr val="EA580C"/>
                </a:solidFill>
                <a:latin typeface="Comfortaa" pitchFamily="34" charset="0"/>
                <a:ea typeface="Comfortaa" pitchFamily="34" charset="-122"/>
                <a:cs typeface="Comfortaa" pitchFamily="34" charset="-120"/>
              </a:rPr>
              <a:t> e </a:t>
            </a:r>
            <a:r>
              <a:rPr lang="en-US" sz="3000" b="1" dirty="0" err="1">
                <a:solidFill>
                  <a:srgbClr val="EA580C"/>
                </a:solidFill>
                <a:latin typeface="Comfortaa" pitchFamily="34" charset="0"/>
                <a:ea typeface="Comfortaa" pitchFamily="34" charset="-122"/>
                <a:cs typeface="Comfortaa" pitchFamily="34" charset="-120"/>
              </a:rPr>
              <a:t>Naturalização</a:t>
            </a:r>
            <a:endParaRPr lang="en-US" sz="3000" dirty="0"/>
          </a:p>
        </p:txBody>
      </p:sp>
      <p:sp>
        <p:nvSpPr>
          <p:cNvPr id="10" name="Text 2"/>
          <p:cNvSpPr/>
          <p:nvPr/>
        </p:nvSpPr>
        <p:spPr>
          <a:xfrm>
            <a:off x="762000" y="3714750"/>
            <a:ext cx="4714875" cy="685800"/>
          </a:xfrm>
          <a:prstGeom prst="rect">
            <a:avLst/>
          </a:prstGeom>
          <a:noFill/>
          <a:ln/>
        </p:spPr>
        <p:txBody>
          <a:bodyPr vert="horz" wrap="square" lIns="0" tIns="0" rIns="0" bIns="0" rtlCol="0" anchor="ctr"/>
          <a:lstStyle/>
          <a:p>
            <a:pPr marL="0" indent="0" algn="ctr">
              <a:lnSpc>
                <a:spcPts val="2700"/>
              </a:lnSpc>
              <a:buNone/>
            </a:pPr>
            <a:r>
              <a:rPr lang="en-US" sz="1800" dirty="0">
                <a:solidFill>
                  <a:srgbClr val="572E26"/>
                </a:solidFill>
                <a:latin typeface="Afacad Flux" pitchFamily="34" charset="0"/>
                <a:ea typeface="Afacad Flux" pitchFamily="34" charset="-122"/>
                <a:cs typeface="Afacad Flux" pitchFamily="34" charset="-120"/>
              </a:rPr>
              <a:t>Busca uma forma que cumpra função paralela na língua-alvo.</a:t>
            </a:r>
            <a:endParaRPr lang="en-US" sz="1800" dirty="0"/>
          </a:p>
        </p:txBody>
      </p:sp>
      <p:sp>
        <p:nvSpPr>
          <p:cNvPr id="11" name="Text 3"/>
          <p:cNvSpPr/>
          <p:nvPr/>
        </p:nvSpPr>
        <p:spPr>
          <a:xfrm>
            <a:off x="6100763" y="2984153"/>
            <a:ext cx="5943600" cy="447675"/>
          </a:xfrm>
          <a:prstGeom prst="rect">
            <a:avLst/>
          </a:prstGeom>
          <a:noFill/>
          <a:ln/>
        </p:spPr>
        <p:txBody>
          <a:bodyPr vert="horz" wrap="square" lIns="0" tIns="0" rIns="0" bIns="0" rtlCol="0" anchor="ctr"/>
          <a:lstStyle/>
          <a:p>
            <a:pPr marL="0" indent="0" algn="ctr">
              <a:buNone/>
            </a:pPr>
            <a:endParaRPr lang="en-US" sz="3000" dirty="0"/>
          </a:p>
        </p:txBody>
      </p:sp>
      <p:sp>
        <p:nvSpPr>
          <p:cNvPr id="12" name="Text 4"/>
          <p:cNvSpPr/>
          <p:nvPr/>
        </p:nvSpPr>
        <p:spPr>
          <a:xfrm>
            <a:off x="6715125" y="3803303"/>
            <a:ext cx="4714875" cy="685800"/>
          </a:xfrm>
          <a:prstGeom prst="rect">
            <a:avLst/>
          </a:prstGeom>
          <a:noFill/>
          <a:ln/>
        </p:spPr>
        <p:txBody>
          <a:bodyPr vert="horz" wrap="square" lIns="0" tIns="0" rIns="0" bIns="0" rtlCol="0" anchor="ctr"/>
          <a:lstStyle/>
          <a:p>
            <a:pPr marL="0" indent="0" algn="ctr">
              <a:lnSpc>
                <a:spcPts val="2700"/>
              </a:lnSpc>
              <a:buNone/>
            </a:pPr>
            <a:endParaRPr lang="en-US" sz="1800" dirty="0"/>
          </a:p>
        </p:txBody>
      </p:sp>
      <p:sp>
        <p:nvSpPr>
          <p:cNvPr id="13" name="Text 5"/>
          <p:cNvSpPr/>
          <p:nvPr/>
        </p:nvSpPr>
        <p:spPr>
          <a:xfrm>
            <a:off x="6715125" y="4812953"/>
            <a:ext cx="4333875" cy="479971"/>
          </a:xfrm>
          <a:prstGeom prst="rect">
            <a:avLst/>
          </a:prstGeom>
          <a:noFill/>
          <a:ln/>
        </p:spPr>
        <p:txBody>
          <a:bodyPr vert="horz" wrap="square" lIns="0" tIns="0" rIns="0" bIns="0" rtlCol="0" anchor="ctr"/>
          <a:lstStyle/>
          <a:p>
            <a:pPr marL="0" indent="0" algn="ctr">
              <a:buNone/>
            </a:pPr>
            <a:endParaRPr lang="en-US" sz="1650" dirty="0"/>
          </a:p>
        </p:txBody>
      </p:sp>
      <p:sp>
        <p:nvSpPr>
          <p:cNvPr id="14" name="CaixaDeTexto 13">
            <a:extLst>
              <a:ext uri="{FF2B5EF4-FFF2-40B4-BE49-F238E27FC236}">
                <a16:creationId xmlns:a16="http://schemas.microsoft.com/office/drawing/2014/main" id="{5568C02B-3EDF-84A9-9652-FC552D513652}"/>
              </a:ext>
            </a:extLst>
          </p:cNvPr>
          <p:cNvSpPr txBox="1"/>
          <p:nvPr/>
        </p:nvSpPr>
        <p:spPr>
          <a:xfrm>
            <a:off x="376237" y="5624945"/>
            <a:ext cx="5576887" cy="646331"/>
          </a:xfrm>
          <a:prstGeom prst="rect">
            <a:avLst/>
          </a:prstGeom>
          <a:noFill/>
        </p:spPr>
        <p:txBody>
          <a:bodyPr wrap="square" rtlCol="0">
            <a:spAutoFit/>
          </a:bodyPr>
          <a:lstStyle/>
          <a:p>
            <a:r>
              <a:rPr lang="en-US" sz="1800" dirty="0">
                <a:solidFill>
                  <a:srgbClr val="572E26"/>
                </a:solidFill>
                <a:latin typeface="Afacad Flux" pitchFamily="34" charset="0"/>
                <a:ea typeface="Afacad Flux" pitchFamily="34" charset="-122"/>
                <a:cs typeface="Afacad Flux" pitchFamily="34" charset="-120"/>
              </a:rPr>
              <a:t>Visa </a:t>
            </a:r>
            <a:r>
              <a:rPr lang="en-US" sz="1800" dirty="0" err="1">
                <a:solidFill>
                  <a:srgbClr val="572E26"/>
                </a:solidFill>
                <a:latin typeface="Afacad Flux" pitchFamily="34" charset="0"/>
                <a:ea typeface="Afacad Flux" pitchFamily="34" charset="-122"/>
                <a:cs typeface="Afacad Flux" pitchFamily="34" charset="-120"/>
              </a:rPr>
              <a:t>integrar</a:t>
            </a:r>
            <a:r>
              <a:rPr lang="en-US" sz="1800" dirty="0">
                <a:solidFill>
                  <a:srgbClr val="572E26"/>
                </a:solidFill>
                <a:latin typeface="Afacad Flux" pitchFamily="34" charset="0"/>
                <a:ea typeface="Afacad Flux" pitchFamily="34" charset="-122"/>
                <a:cs typeface="Afacad Flux" pitchFamily="34" charset="-120"/>
              </a:rPr>
              <a:t> o </a:t>
            </a:r>
            <a:r>
              <a:rPr lang="en-US" sz="1800" dirty="0" err="1">
                <a:solidFill>
                  <a:srgbClr val="572E26"/>
                </a:solidFill>
                <a:latin typeface="Afacad Flux" pitchFamily="34" charset="0"/>
                <a:ea typeface="Afacad Flux" pitchFamily="34" charset="-122"/>
                <a:cs typeface="Afacad Flux" pitchFamily="34" charset="-120"/>
              </a:rPr>
              <a:t>poema</a:t>
            </a:r>
            <a:r>
              <a:rPr lang="en-US" sz="1800" dirty="0">
                <a:solidFill>
                  <a:srgbClr val="572E26"/>
                </a:solidFill>
                <a:latin typeface="Afacad Flux" pitchFamily="34" charset="0"/>
                <a:ea typeface="Afacad Flux" pitchFamily="34" charset="-122"/>
                <a:cs typeface="Afacad Flux" pitchFamily="34" charset="-120"/>
              </a:rPr>
              <a:t> à </a:t>
            </a:r>
            <a:r>
              <a:rPr lang="en-US" sz="1800" dirty="0" err="1">
                <a:solidFill>
                  <a:srgbClr val="572E26"/>
                </a:solidFill>
                <a:latin typeface="Afacad Flux" pitchFamily="34" charset="0"/>
                <a:ea typeface="Afacad Flux" pitchFamily="34" charset="-122"/>
                <a:cs typeface="Afacad Flux" pitchFamily="34" charset="-120"/>
              </a:rPr>
              <a:t>tradição</a:t>
            </a:r>
            <a:r>
              <a:rPr lang="en-US" sz="1800" dirty="0">
                <a:solidFill>
                  <a:srgbClr val="572E26"/>
                </a:solidFill>
                <a:latin typeface="Afacad Flux" pitchFamily="34" charset="0"/>
                <a:ea typeface="Afacad Flux" pitchFamily="34" charset="-122"/>
                <a:cs typeface="Afacad Flux" pitchFamily="34" charset="-120"/>
              </a:rPr>
              <a:t> </a:t>
            </a:r>
            <a:r>
              <a:rPr lang="en-US" sz="1800" dirty="0" err="1">
                <a:solidFill>
                  <a:srgbClr val="572E26"/>
                </a:solidFill>
                <a:latin typeface="Afacad Flux" pitchFamily="34" charset="0"/>
                <a:ea typeface="Afacad Flux" pitchFamily="34" charset="-122"/>
                <a:cs typeface="Afacad Flux" pitchFamily="34" charset="-120"/>
              </a:rPr>
              <a:t>poética</a:t>
            </a:r>
            <a:r>
              <a:rPr lang="en-US" sz="1800" dirty="0">
                <a:solidFill>
                  <a:srgbClr val="572E26"/>
                </a:solidFill>
                <a:latin typeface="Afacad Flux" pitchFamily="34" charset="0"/>
                <a:ea typeface="Afacad Flux" pitchFamily="34" charset="-122"/>
                <a:cs typeface="Afacad Flux" pitchFamily="34" charset="-120"/>
              </a:rPr>
              <a:t> de </a:t>
            </a:r>
            <a:r>
              <a:rPr lang="en-US" sz="1800" dirty="0" err="1">
                <a:solidFill>
                  <a:srgbClr val="572E26"/>
                </a:solidFill>
                <a:latin typeface="Afacad Flux" pitchFamily="34" charset="0"/>
                <a:ea typeface="Afacad Flux" pitchFamily="34" charset="-122"/>
                <a:cs typeface="Afacad Flux" pitchFamily="34" charset="-120"/>
              </a:rPr>
              <a:t>chegada</a:t>
            </a:r>
            <a:r>
              <a:rPr lang="en-US" sz="1800" dirty="0">
                <a:solidFill>
                  <a:srgbClr val="572E26"/>
                </a:solidFill>
                <a:latin typeface="Afacad Flux" pitchFamily="34" charset="0"/>
                <a:ea typeface="Afacad Flux" pitchFamily="34" charset="-122"/>
                <a:cs typeface="Afacad Flux" pitchFamily="34" charset="-120"/>
              </a:rPr>
              <a:t>.</a:t>
            </a:r>
            <a:endParaRPr lang="en-US" sz="1800" dirty="0"/>
          </a:p>
          <a:p>
            <a:endParaRPr lang="pt-PT" dirty="0"/>
          </a:p>
        </p:txBody>
      </p:sp>
      <p:pic>
        <p:nvPicPr>
          <p:cNvPr id="16" name="Imagem 15" descr="Uma imagem com texto, captura de ecrã, Tipo de letra, documento&#10;&#10;Descrição gerada automaticamente">
            <a:extLst>
              <a:ext uri="{FF2B5EF4-FFF2-40B4-BE49-F238E27FC236}">
                <a16:creationId xmlns:a16="http://schemas.microsoft.com/office/drawing/2014/main" id="{A52F66EE-01EF-5336-76DF-D94E0D9218C2}"/>
              </a:ext>
            </a:extLst>
          </p:cNvPr>
          <p:cNvPicPr>
            <a:picLocks noChangeAspect="1"/>
          </p:cNvPicPr>
          <p:nvPr/>
        </p:nvPicPr>
        <p:blipFill>
          <a:blip r:embed="rId9"/>
          <a:stretch>
            <a:fillRect/>
          </a:stretch>
        </p:blipFill>
        <p:spPr>
          <a:xfrm>
            <a:off x="7021080" y="222249"/>
            <a:ext cx="4333874" cy="692312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620000"/>
          </a:xfrm>
          <a:prstGeom prst="rect">
            <a:avLst/>
          </a:prstGeom>
        </p:spPr>
      </p:pic>
      <p:pic>
        <p:nvPicPr>
          <p:cNvPr id="3" name="Image 1" descr="preencoded.png"/>
          <p:cNvPicPr>
            <a:picLocks noChangeAspect="1"/>
          </p:cNvPicPr>
          <p:nvPr/>
        </p:nvPicPr>
        <p:blipFill>
          <a:blip r:embed="rId4"/>
          <a:stretch>
            <a:fillRect/>
          </a:stretch>
        </p:blipFill>
        <p:spPr>
          <a:xfrm>
            <a:off x="0" y="381000"/>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381000" y="2781300"/>
            <a:ext cx="3619500" cy="2809875"/>
          </a:xfrm>
          <a:prstGeom prst="rect">
            <a:avLst/>
          </a:prstGeom>
        </p:spPr>
      </p:pic>
      <p:pic>
        <p:nvPicPr>
          <p:cNvPr id="5" name="Image 3" descr="preencoded.png"/>
          <p:cNvPicPr>
            <a:picLocks noChangeAspect="1"/>
          </p:cNvPicPr>
          <p:nvPr/>
        </p:nvPicPr>
        <p:blipFill>
          <a:blip r:embed="rId6"/>
          <a:stretch>
            <a:fillRect/>
          </a:stretch>
        </p:blipFill>
        <p:spPr>
          <a:xfrm>
            <a:off x="1981200" y="3086100"/>
            <a:ext cx="419100" cy="476250"/>
          </a:xfrm>
          <a:prstGeom prst="rect">
            <a:avLst/>
          </a:prstGeom>
        </p:spPr>
      </p:pic>
      <p:pic>
        <p:nvPicPr>
          <p:cNvPr id="6" name="Image 4" descr="preencoded.png"/>
          <p:cNvPicPr>
            <a:picLocks noChangeAspect="1"/>
          </p:cNvPicPr>
          <p:nvPr/>
        </p:nvPicPr>
        <p:blipFill>
          <a:blip r:embed="rId7"/>
          <a:stretch>
            <a:fillRect/>
          </a:stretch>
        </p:blipFill>
        <p:spPr>
          <a:xfrm>
            <a:off x="4286250" y="2781300"/>
            <a:ext cx="3619500" cy="2809875"/>
          </a:xfrm>
          <a:prstGeom prst="rect">
            <a:avLst/>
          </a:prstGeom>
        </p:spPr>
      </p:pic>
      <p:pic>
        <p:nvPicPr>
          <p:cNvPr id="7" name="Image 5" descr="preencoded.png"/>
          <p:cNvPicPr>
            <a:picLocks noChangeAspect="1"/>
          </p:cNvPicPr>
          <p:nvPr/>
        </p:nvPicPr>
        <p:blipFill>
          <a:blip r:embed="rId8"/>
          <a:stretch>
            <a:fillRect/>
          </a:stretch>
        </p:blipFill>
        <p:spPr>
          <a:xfrm>
            <a:off x="5829300" y="3086100"/>
            <a:ext cx="533400" cy="476250"/>
          </a:xfrm>
          <a:prstGeom prst="rect">
            <a:avLst/>
          </a:prstGeom>
        </p:spPr>
      </p:pic>
      <p:pic>
        <p:nvPicPr>
          <p:cNvPr id="8" name="Image 6" descr="preencoded.png"/>
          <p:cNvPicPr>
            <a:picLocks noChangeAspect="1"/>
          </p:cNvPicPr>
          <p:nvPr/>
        </p:nvPicPr>
        <p:blipFill>
          <a:blip r:embed="rId9"/>
          <a:stretch>
            <a:fillRect/>
          </a:stretch>
        </p:blipFill>
        <p:spPr>
          <a:xfrm>
            <a:off x="8191500" y="2781300"/>
            <a:ext cx="3619500" cy="2809875"/>
          </a:xfrm>
          <a:prstGeom prst="rect">
            <a:avLst/>
          </a:prstGeom>
        </p:spPr>
      </p:pic>
      <p:pic>
        <p:nvPicPr>
          <p:cNvPr id="9" name="Image 7" descr="preencoded.png"/>
          <p:cNvPicPr>
            <a:picLocks noChangeAspect="1"/>
          </p:cNvPicPr>
          <p:nvPr/>
        </p:nvPicPr>
        <p:blipFill>
          <a:blip r:embed="rId10"/>
          <a:stretch>
            <a:fillRect/>
          </a:stretch>
        </p:blipFill>
        <p:spPr>
          <a:xfrm>
            <a:off x="9763125" y="3086100"/>
            <a:ext cx="476250" cy="476250"/>
          </a:xfrm>
          <a:prstGeom prst="rect">
            <a:avLst/>
          </a:prstGeom>
        </p:spPr>
      </p:pic>
      <p:sp>
        <p:nvSpPr>
          <p:cNvPr id="10" name="Text 0"/>
          <p:cNvSpPr/>
          <p:nvPr/>
        </p:nvSpPr>
        <p:spPr>
          <a:xfrm>
            <a:off x="381000" y="762000"/>
            <a:ext cx="14859000" cy="561975"/>
          </a:xfrm>
          <a:prstGeom prst="rect">
            <a:avLst/>
          </a:prstGeom>
          <a:noFill/>
          <a:ln/>
        </p:spPr>
        <p:txBody>
          <a:bodyPr vert="horz" wrap="square" lIns="0" tIns="0" rIns="0" bIns="0" rtlCol="0" anchor="ctr"/>
          <a:lstStyle/>
          <a:p>
            <a:pPr marL="0" indent="0" algn="l">
              <a:buNone/>
            </a:pPr>
            <a:r>
              <a:rPr lang="en-US" sz="3900" b="1" dirty="0">
                <a:solidFill>
                  <a:srgbClr val="9A3412"/>
                </a:solidFill>
                <a:latin typeface="Comfortaa" pitchFamily="34" charset="0"/>
                <a:ea typeface="Comfortaa" pitchFamily="34" charset="-122"/>
                <a:cs typeface="Comfortaa" pitchFamily="34" charset="-120"/>
              </a:rPr>
              <a:t>Formas Derivadas da Forma</a:t>
            </a:r>
            <a:endParaRPr lang="en-US" sz="3900" dirty="0"/>
          </a:p>
        </p:txBody>
      </p:sp>
      <p:sp>
        <p:nvSpPr>
          <p:cNvPr id="11" name="Text 1"/>
          <p:cNvSpPr/>
          <p:nvPr/>
        </p:nvSpPr>
        <p:spPr>
          <a:xfrm>
            <a:off x="666750" y="3810000"/>
            <a:ext cx="3048000" cy="352425"/>
          </a:xfrm>
          <a:prstGeom prst="rect">
            <a:avLst/>
          </a:prstGeom>
          <a:noFill/>
          <a:ln/>
        </p:spPr>
        <p:txBody>
          <a:bodyPr vert="horz" wrap="square" lIns="0" tIns="0" rIns="0" bIns="0" rtlCol="0" anchor="ctr"/>
          <a:lstStyle/>
          <a:p>
            <a:pPr marL="0" indent="0" algn="ctr">
              <a:buNone/>
            </a:pPr>
            <a:r>
              <a:rPr lang="en-US" sz="2400" b="1" dirty="0">
                <a:solidFill>
                  <a:srgbClr val="9A3412"/>
                </a:solidFill>
                <a:latin typeface="Comfortaa" pitchFamily="34" charset="0"/>
                <a:ea typeface="Comfortaa" pitchFamily="34" charset="-122"/>
                <a:cs typeface="Comfortaa" pitchFamily="34" charset="-120"/>
              </a:rPr>
              <a:t>Mimética</a:t>
            </a:r>
            <a:endParaRPr lang="en-US" sz="2400" dirty="0"/>
          </a:p>
        </p:txBody>
      </p:sp>
      <p:sp>
        <p:nvSpPr>
          <p:cNvPr id="12" name="Text 2"/>
          <p:cNvSpPr/>
          <p:nvPr/>
        </p:nvSpPr>
        <p:spPr>
          <a:xfrm>
            <a:off x="666750" y="4391025"/>
            <a:ext cx="3048000" cy="685800"/>
          </a:xfrm>
          <a:prstGeom prst="rect">
            <a:avLst/>
          </a:prstGeom>
          <a:noFill/>
          <a:ln/>
        </p:spPr>
        <p:txBody>
          <a:bodyPr vert="horz" wrap="square" lIns="0" tIns="0" rIns="0" bIns="0" rtlCol="0" anchor="ctr"/>
          <a:lstStyle/>
          <a:p>
            <a:pPr marL="0" indent="0" algn="ctr">
              <a:lnSpc>
                <a:spcPts val="2700"/>
              </a:lnSpc>
              <a:buNone/>
            </a:pPr>
            <a:r>
              <a:rPr lang="en-US" sz="1800" dirty="0">
                <a:solidFill>
                  <a:srgbClr val="572E26"/>
                </a:solidFill>
                <a:latin typeface="Afacad Flux" pitchFamily="34" charset="0"/>
                <a:ea typeface="Afacad Flux" pitchFamily="34" charset="-122"/>
                <a:cs typeface="Afacad Flux" pitchFamily="34" charset="-120"/>
              </a:rPr>
              <a:t>Imitação da estrutura externa original.</a:t>
            </a:r>
            <a:endParaRPr lang="en-US" sz="1800" dirty="0"/>
          </a:p>
        </p:txBody>
      </p:sp>
      <p:sp>
        <p:nvSpPr>
          <p:cNvPr id="13" name="Text 3"/>
          <p:cNvSpPr/>
          <p:nvPr/>
        </p:nvSpPr>
        <p:spPr>
          <a:xfrm>
            <a:off x="4450080" y="3810000"/>
            <a:ext cx="3291840" cy="352425"/>
          </a:xfrm>
          <a:prstGeom prst="rect">
            <a:avLst/>
          </a:prstGeom>
          <a:noFill/>
          <a:ln/>
        </p:spPr>
        <p:txBody>
          <a:bodyPr vert="horz" wrap="square" lIns="0" tIns="0" rIns="0" bIns="0" rtlCol="0" anchor="ctr"/>
          <a:lstStyle/>
          <a:p>
            <a:pPr marL="0" indent="0" algn="ctr">
              <a:buNone/>
            </a:pPr>
            <a:r>
              <a:rPr lang="en-US" sz="2400" b="1" dirty="0">
                <a:solidFill>
                  <a:srgbClr val="9A3412"/>
                </a:solidFill>
                <a:latin typeface="Comfortaa" pitchFamily="34" charset="0"/>
                <a:ea typeface="Comfortaa" pitchFamily="34" charset="-122"/>
                <a:cs typeface="Comfortaa" pitchFamily="34" charset="-120"/>
              </a:rPr>
              <a:t>Analógica</a:t>
            </a:r>
            <a:endParaRPr lang="en-US" sz="2400" dirty="0"/>
          </a:p>
        </p:txBody>
      </p:sp>
      <p:sp>
        <p:nvSpPr>
          <p:cNvPr id="14" name="Text 4"/>
          <p:cNvSpPr/>
          <p:nvPr/>
        </p:nvSpPr>
        <p:spPr>
          <a:xfrm>
            <a:off x="4572000" y="4391025"/>
            <a:ext cx="3048000" cy="685800"/>
          </a:xfrm>
          <a:prstGeom prst="rect">
            <a:avLst/>
          </a:prstGeom>
          <a:noFill/>
          <a:ln/>
        </p:spPr>
        <p:txBody>
          <a:bodyPr vert="horz" wrap="square" lIns="0" tIns="0" rIns="0" bIns="0" rtlCol="0" anchor="ctr"/>
          <a:lstStyle/>
          <a:p>
            <a:pPr marL="0" indent="0" algn="ctr">
              <a:lnSpc>
                <a:spcPts val="2700"/>
              </a:lnSpc>
              <a:buNone/>
            </a:pPr>
            <a:r>
              <a:rPr lang="en-US" sz="1800" dirty="0">
                <a:solidFill>
                  <a:srgbClr val="572E26"/>
                </a:solidFill>
                <a:latin typeface="Afacad Flux" pitchFamily="34" charset="0"/>
                <a:ea typeface="Afacad Flux" pitchFamily="34" charset="-122"/>
                <a:cs typeface="Afacad Flux" pitchFamily="34" charset="-120"/>
              </a:rPr>
              <a:t>Correspondência funcional na cultura-alvo.</a:t>
            </a:r>
            <a:endParaRPr lang="en-US" sz="1800" dirty="0"/>
          </a:p>
        </p:txBody>
      </p:sp>
      <p:sp>
        <p:nvSpPr>
          <p:cNvPr id="15" name="Text 5"/>
          <p:cNvSpPr/>
          <p:nvPr/>
        </p:nvSpPr>
        <p:spPr>
          <a:xfrm>
            <a:off x="8477250" y="3810000"/>
            <a:ext cx="3048000" cy="352425"/>
          </a:xfrm>
          <a:prstGeom prst="rect">
            <a:avLst/>
          </a:prstGeom>
          <a:noFill/>
          <a:ln/>
        </p:spPr>
        <p:txBody>
          <a:bodyPr vert="horz" wrap="square" lIns="0" tIns="0" rIns="0" bIns="0" rtlCol="0" anchor="ctr"/>
          <a:lstStyle/>
          <a:p>
            <a:pPr marL="0" indent="0" algn="ctr">
              <a:buNone/>
            </a:pPr>
            <a:r>
              <a:rPr lang="en-US" sz="2400" b="1" dirty="0">
                <a:solidFill>
                  <a:srgbClr val="9A3412"/>
                </a:solidFill>
                <a:latin typeface="Comfortaa" pitchFamily="34" charset="0"/>
                <a:ea typeface="Comfortaa" pitchFamily="34" charset="-122"/>
                <a:cs typeface="Comfortaa" pitchFamily="34" charset="-120"/>
              </a:rPr>
              <a:t>Processo</a:t>
            </a:r>
            <a:endParaRPr lang="en-US" sz="2400" dirty="0"/>
          </a:p>
        </p:txBody>
      </p:sp>
      <p:sp>
        <p:nvSpPr>
          <p:cNvPr id="16" name="Text 6"/>
          <p:cNvSpPr/>
          <p:nvPr/>
        </p:nvSpPr>
        <p:spPr>
          <a:xfrm>
            <a:off x="8477250" y="4391025"/>
            <a:ext cx="3048000" cy="685800"/>
          </a:xfrm>
          <a:prstGeom prst="rect">
            <a:avLst/>
          </a:prstGeom>
          <a:noFill/>
          <a:ln/>
        </p:spPr>
        <p:txBody>
          <a:bodyPr vert="horz" wrap="square" lIns="0" tIns="0" rIns="0" bIns="0" rtlCol="0" anchor="ctr"/>
          <a:lstStyle/>
          <a:p>
            <a:pPr marL="0" indent="0" algn="ctr">
              <a:lnSpc>
                <a:spcPts val="2700"/>
              </a:lnSpc>
              <a:buNone/>
            </a:pPr>
            <a:r>
              <a:rPr lang="en-US" sz="1800" dirty="0">
                <a:solidFill>
                  <a:srgbClr val="572E26"/>
                </a:solidFill>
                <a:latin typeface="Afacad Flux" pitchFamily="34" charset="0"/>
                <a:ea typeface="Afacad Flux" pitchFamily="34" charset="-122"/>
                <a:cs typeface="Afacad Flux" pitchFamily="34" charset="-120"/>
              </a:rPr>
              <a:t>Determinado pela equivalência formal externa.</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620000"/>
          </a:xfrm>
          <a:prstGeom prst="rect">
            <a:avLst/>
          </a:prstGeom>
        </p:spPr>
      </p:pic>
      <p:pic>
        <p:nvPicPr>
          <p:cNvPr id="3" name="Image 1" descr="preencoded.png"/>
          <p:cNvPicPr>
            <a:picLocks noChangeAspect="1"/>
          </p:cNvPicPr>
          <p:nvPr/>
        </p:nvPicPr>
        <p:blipFill>
          <a:blip r:embed="rId4"/>
          <a:stretch>
            <a:fillRect/>
          </a:stretch>
        </p:blipFill>
        <p:spPr>
          <a:xfrm>
            <a:off x="0" y="381000"/>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1214438" y="2281238"/>
            <a:ext cx="3810000" cy="3810000"/>
          </a:xfrm>
          <a:prstGeom prst="rect">
            <a:avLst/>
          </a:prstGeom>
        </p:spPr>
      </p:pic>
      <p:pic>
        <p:nvPicPr>
          <p:cNvPr id="5" name="Image 3" descr="preencoded.png"/>
          <p:cNvPicPr>
            <a:picLocks noChangeAspect="1"/>
          </p:cNvPicPr>
          <p:nvPr/>
        </p:nvPicPr>
        <p:blipFill>
          <a:blip r:embed="rId6"/>
          <a:stretch>
            <a:fillRect/>
          </a:stretch>
        </p:blipFill>
        <p:spPr>
          <a:xfrm>
            <a:off x="1214438" y="2281238"/>
            <a:ext cx="3810000" cy="3810000"/>
          </a:xfrm>
          <a:prstGeom prst="rect">
            <a:avLst/>
          </a:prstGeom>
        </p:spPr>
      </p:pic>
      <p:sp>
        <p:nvSpPr>
          <p:cNvPr id="6" name="Text 0"/>
          <p:cNvSpPr/>
          <p:nvPr/>
        </p:nvSpPr>
        <p:spPr>
          <a:xfrm>
            <a:off x="381000" y="762000"/>
            <a:ext cx="11430000" cy="561975"/>
          </a:xfrm>
          <a:prstGeom prst="rect">
            <a:avLst/>
          </a:prstGeom>
          <a:noFill/>
          <a:ln/>
        </p:spPr>
        <p:txBody>
          <a:bodyPr vert="horz" wrap="square" lIns="0" tIns="0" rIns="0" bIns="0" rtlCol="0" anchor="ctr"/>
          <a:lstStyle/>
          <a:p>
            <a:pPr marL="0" indent="0" algn="l">
              <a:buNone/>
            </a:pPr>
            <a:r>
              <a:rPr lang="en-US" sz="3900" b="1" dirty="0">
                <a:solidFill>
                  <a:srgbClr val="9A3412"/>
                </a:solidFill>
                <a:latin typeface="Comfortaa" pitchFamily="34" charset="0"/>
                <a:ea typeface="Comfortaa" pitchFamily="34" charset="-122"/>
                <a:cs typeface="Comfortaa" pitchFamily="34" charset="-120"/>
              </a:rPr>
              <a:t>Forma Orgânica</a:t>
            </a:r>
            <a:endParaRPr lang="en-US" sz="3900" dirty="0"/>
          </a:p>
        </p:txBody>
      </p:sp>
      <p:sp>
        <p:nvSpPr>
          <p:cNvPr id="7" name="Text 1"/>
          <p:cNvSpPr/>
          <p:nvPr/>
        </p:nvSpPr>
        <p:spPr>
          <a:xfrm>
            <a:off x="6334125" y="2786063"/>
            <a:ext cx="8412480" cy="352425"/>
          </a:xfrm>
          <a:prstGeom prst="rect">
            <a:avLst/>
          </a:prstGeom>
          <a:noFill/>
          <a:ln/>
        </p:spPr>
        <p:txBody>
          <a:bodyPr vert="horz" wrap="square" lIns="0" tIns="0" rIns="0" bIns="0" rtlCol="0" anchor="ctr"/>
          <a:lstStyle/>
          <a:p>
            <a:pPr marL="0" indent="0">
              <a:buNone/>
            </a:pPr>
            <a:r>
              <a:rPr lang="en-US" sz="2400" b="1" dirty="0">
                <a:solidFill>
                  <a:srgbClr val="9A3412"/>
                </a:solidFill>
                <a:latin typeface="Comfortaa" pitchFamily="34" charset="0"/>
                <a:ea typeface="Comfortaa" pitchFamily="34" charset="-122"/>
                <a:cs typeface="Comfortaa" pitchFamily="34" charset="-120"/>
              </a:rPr>
              <a:t>O Conteúdo dita a Forma</a:t>
            </a:r>
            <a:endParaRPr lang="en-US" sz="2400" dirty="0"/>
          </a:p>
        </p:txBody>
      </p:sp>
      <p:sp>
        <p:nvSpPr>
          <p:cNvPr id="8" name="Text 2"/>
          <p:cNvSpPr/>
          <p:nvPr/>
        </p:nvSpPr>
        <p:spPr>
          <a:xfrm>
            <a:off x="6524625" y="3290888"/>
            <a:ext cx="5286375" cy="733425"/>
          </a:xfrm>
          <a:prstGeom prst="rect">
            <a:avLst/>
          </a:prstGeom>
          <a:noFill/>
          <a:ln/>
        </p:spPr>
        <p:txBody>
          <a:bodyPr vert="horz" wrap="square" lIns="0" tIns="0" rIns="0" bIns="0" rtlCol="0" anchor="ctr"/>
          <a:lstStyle/>
          <a:p>
            <a:pPr marL="0" indent="0" algn="l">
              <a:lnSpc>
                <a:spcPts val="2700"/>
              </a:lnSpc>
              <a:buNone/>
            </a:pPr>
            <a:r>
              <a:rPr lang="en-US" sz="1800" dirty="0">
                <a:solidFill>
                  <a:srgbClr val="572E26"/>
                </a:solidFill>
                <a:latin typeface="Afacad Flux" pitchFamily="34" charset="0"/>
                <a:ea typeface="Afacad Flux" pitchFamily="34" charset="-122"/>
                <a:cs typeface="Afacad Flux" pitchFamily="34" charset="-120"/>
              </a:rPr>
              <a:t>A forma desenvolve-se a partir do material semântico.</a:t>
            </a:r>
            <a:endParaRPr lang="en-US" sz="1800" dirty="0"/>
          </a:p>
        </p:txBody>
      </p:sp>
      <p:sp>
        <p:nvSpPr>
          <p:cNvPr id="9" name="Text 3"/>
          <p:cNvSpPr/>
          <p:nvPr/>
        </p:nvSpPr>
        <p:spPr>
          <a:xfrm>
            <a:off x="6524625" y="4167188"/>
            <a:ext cx="5286375" cy="733425"/>
          </a:xfrm>
          <a:prstGeom prst="rect">
            <a:avLst/>
          </a:prstGeom>
          <a:noFill/>
          <a:ln/>
        </p:spPr>
        <p:txBody>
          <a:bodyPr vert="horz" wrap="square" lIns="0" tIns="0" rIns="0" bIns="0" rtlCol="0" anchor="ctr"/>
          <a:lstStyle/>
          <a:p>
            <a:pPr marL="0" indent="0" algn="l">
              <a:lnSpc>
                <a:spcPts val="2700"/>
              </a:lnSpc>
              <a:buNone/>
            </a:pPr>
            <a:r>
              <a:rPr lang="en-US" sz="1800" dirty="0">
                <a:solidFill>
                  <a:srgbClr val="572E26"/>
                </a:solidFill>
                <a:latin typeface="Afacad Flux" pitchFamily="34" charset="0"/>
                <a:ea typeface="Afacad Flux" pitchFamily="34" charset="-122"/>
                <a:cs typeface="Afacad Flux" pitchFamily="34" charset="-120"/>
              </a:rPr>
              <a:t>Visão monística: forma e conteúdo são inseparáveis.</a:t>
            </a:r>
            <a:endParaRPr lang="en-US" sz="1800" dirty="0"/>
          </a:p>
        </p:txBody>
      </p:sp>
      <p:sp>
        <p:nvSpPr>
          <p:cNvPr id="10" name="Text 4"/>
          <p:cNvSpPr/>
          <p:nvPr/>
        </p:nvSpPr>
        <p:spPr>
          <a:xfrm>
            <a:off x="6524625" y="5043488"/>
            <a:ext cx="9601200" cy="390525"/>
          </a:xfrm>
          <a:prstGeom prst="rect">
            <a:avLst/>
          </a:prstGeom>
          <a:noFill/>
          <a:ln/>
        </p:spPr>
        <p:txBody>
          <a:bodyPr vert="horz" wrap="square" lIns="0" tIns="0" rIns="0" bIns="0" rtlCol="0" anchor="ctr"/>
          <a:lstStyle/>
          <a:p>
            <a:pPr marL="0" indent="0" algn="l">
              <a:lnSpc>
                <a:spcPts val="2700"/>
              </a:lnSpc>
              <a:buNone/>
            </a:pPr>
            <a:r>
              <a:rPr lang="en-US" sz="1800" dirty="0">
                <a:solidFill>
                  <a:srgbClr val="572E26"/>
                </a:solidFill>
                <a:latin typeface="Afacad Flux" pitchFamily="34" charset="0"/>
                <a:ea typeface="Afacad Flux" pitchFamily="34" charset="-122"/>
                <a:cs typeface="Afacad Flux" pitchFamily="34" charset="-120"/>
              </a:rPr>
              <a:t>Abordagem proeminente no século XX.</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620000"/>
          </a:xfrm>
          <a:prstGeom prst="rect">
            <a:avLst/>
          </a:prstGeom>
        </p:spPr>
      </p:pic>
      <p:pic>
        <p:nvPicPr>
          <p:cNvPr id="3" name="Image 1" descr="preencoded.png"/>
          <p:cNvPicPr>
            <a:picLocks noChangeAspect="1"/>
          </p:cNvPicPr>
          <p:nvPr/>
        </p:nvPicPr>
        <p:blipFill>
          <a:blip r:embed="rId4"/>
          <a:stretch>
            <a:fillRect/>
          </a:stretch>
        </p:blipFill>
        <p:spPr>
          <a:xfrm>
            <a:off x="0" y="381000"/>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381000" y="4993928"/>
            <a:ext cx="2796183" cy="603796"/>
          </a:xfrm>
          <a:prstGeom prst="rect">
            <a:avLst/>
          </a:prstGeom>
        </p:spPr>
      </p:pic>
      <p:pic>
        <p:nvPicPr>
          <p:cNvPr id="5" name="Image 3" descr="preencoded.png"/>
          <p:cNvPicPr>
            <a:picLocks noChangeAspect="1"/>
          </p:cNvPicPr>
          <p:nvPr/>
        </p:nvPicPr>
        <p:blipFill>
          <a:blip r:embed="rId6"/>
          <a:stretch>
            <a:fillRect/>
          </a:stretch>
        </p:blipFill>
        <p:spPr>
          <a:xfrm>
            <a:off x="9331501" y="3748088"/>
            <a:ext cx="4672758" cy="3656941"/>
          </a:xfrm>
          <a:prstGeom prst="rect">
            <a:avLst/>
          </a:prstGeom>
        </p:spPr>
      </p:pic>
      <p:sp>
        <p:nvSpPr>
          <p:cNvPr id="7" name="Text 0"/>
          <p:cNvSpPr/>
          <p:nvPr/>
        </p:nvSpPr>
        <p:spPr>
          <a:xfrm>
            <a:off x="381000" y="762000"/>
            <a:ext cx="11430000" cy="561975"/>
          </a:xfrm>
          <a:prstGeom prst="rect">
            <a:avLst/>
          </a:prstGeom>
          <a:noFill/>
          <a:ln/>
        </p:spPr>
        <p:txBody>
          <a:bodyPr vert="horz" wrap="square" lIns="0" tIns="0" rIns="0" bIns="0" rtlCol="0" anchor="ctr"/>
          <a:lstStyle/>
          <a:p>
            <a:pPr marL="0" indent="0" algn="l">
              <a:buNone/>
            </a:pPr>
            <a:r>
              <a:rPr lang="en-US" sz="3900" b="1" dirty="0">
                <a:solidFill>
                  <a:srgbClr val="9A3412"/>
                </a:solidFill>
                <a:latin typeface="Comfortaa" pitchFamily="34" charset="0"/>
                <a:ea typeface="Comfortaa" pitchFamily="34" charset="-122"/>
                <a:cs typeface="Comfortaa" pitchFamily="34" charset="-120"/>
              </a:rPr>
              <a:t>Forma </a:t>
            </a:r>
            <a:r>
              <a:rPr lang="en-US" sz="3900" b="1" dirty="0" err="1">
                <a:solidFill>
                  <a:srgbClr val="9A3412"/>
                </a:solidFill>
                <a:latin typeface="Comfortaa" pitchFamily="34" charset="0"/>
                <a:ea typeface="Comfortaa" pitchFamily="34" charset="-122"/>
                <a:cs typeface="Comfortaa" pitchFamily="34" charset="-120"/>
              </a:rPr>
              <a:t>Excêntrica</a:t>
            </a:r>
            <a:r>
              <a:rPr lang="en-US" sz="3900" b="1" dirty="0">
                <a:solidFill>
                  <a:srgbClr val="9A3412"/>
                </a:solidFill>
                <a:latin typeface="Comfortaa" pitchFamily="34" charset="0"/>
                <a:ea typeface="Comfortaa" pitchFamily="34" charset="-122"/>
                <a:cs typeface="Comfortaa" pitchFamily="34" charset="-120"/>
              </a:rPr>
              <a:t> / </a:t>
            </a:r>
            <a:r>
              <a:rPr lang="en-US" sz="3900" b="1" dirty="0" err="1">
                <a:solidFill>
                  <a:srgbClr val="9A3412"/>
                </a:solidFill>
                <a:latin typeface="Comfortaa" pitchFamily="34" charset="0"/>
                <a:ea typeface="Comfortaa" pitchFamily="34" charset="-122"/>
                <a:cs typeface="Comfortaa" pitchFamily="34" charset="-120"/>
              </a:rPr>
              <a:t>Extemporânea</a:t>
            </a:r>
            <a:r>
              <a:rPr lang="en-US" sz="3900" b="1" dirty="0">
                <a:solidFill>
                  <a:srgbClr val="9A3412"/>
                </a:solidFill>
                <a:latin typeface="Comfortaa" pitchFamily="34" charset="0"/>
                <a:ea typeface="Comfortaa" pitchFamily="34" charset="-122"/>
                <a:cs typeface="Comfortaa" pitchFamily="34" charset="-120"/>
              </a:rPr>
              <a:t> / </a:t>
            </a:r>
            <a:r>
              <a:rPr lang="en-US" sz="3900" b="1" dirty="0" err="1">
                <a:solidFill>
                  <a:srgbClr val="9A3412"/>
                </a:solidFill>
                <a:latin typeface="Comfortaa" pitchFamily="34" charset="0"/>
                <a:ea typeface="Comfortaa" pitchFamily="34" charset="-122"/>
                <a:cs typeface="Comfortaa" pitchFamily="34" charset="-120"/>
              </a:rPr>
              <a:t>estranha</a:t>
            </a:r>
            <a:endParaRPr lang="en-US" sz="3900" dirty="0"/>
          </a:p>
        </p:txBody>
      </p:sp>
      <p:sp>
        <p:nvSpPr>
          <p:cNvPr id="8" name="Text 1"/>
          <p:cNvSpPr/>
          <p:nvPr/>
        </p:nvSpPr>
        <p:spPr>
          <a:xfrm>
            <a:off x="381000" y="2907953"/>
            <a:ext cx="5476875" cy="685800"/>
          </a:xfrm>
          <a:prstGeom prst="rect">
            <a:avLst/>
          </a:prstGeom>
          <a:noFill/>
          <a:ln/>
        </p:spPr>
        <p:txBody>
          <a:bodyPr vert="horz" wrap="square" lIns="0" tIns="0" rIns="0" bIns="0" rtlCol="0" anchor="ctr"/>
          <a:lstStyle/>
          <a:p>
            <a:pPr marL="0" indent="0">
              <a:lnSpc>
                <a:spcPts val="2700"/>
              </a:lnSpc>
              <a:buNone/>
            </a:pPr>
            <a:r>
              <a:rPr lang="en-US" sz="1800" dirty="0">
                <a:solidFill>
                  <a:srgbClr val="572E26"/>
                </a:solidFill>
                <a:latin typeface="Afacad Flux" pitchFamily="34" charset="0"/>
                <a:ea typeface="Afacad Flux" pitchFamily="34" charset="-122"/>
                <a:cs typeface="Afacad Flux" pitchFamily="34" charset="-120"/>
              </a:rPr>
              <a:t>Forma não derivada nem do conteúdo nem da forma original.</a:t>
            </a:r>
            <a:endParaRPr lang="en-US" sz="1800" dirty="0"/>
          </a:p>
        </p:txBody>
      </p:sp>
      <p:sp>
        <p:nvSpPr>
          <p:cNvPr id="9" name="Text 2"/>
          <p:cNvSpPr/>
          <p:nvPr/>
        </p:nvSpPr>
        <p:spPr>
          <a:xfrm>
            <a:off x="571500" y="3822353"/>
            <a:ext cx="13167360" cy="390525"/>
          </a:xfrm>
          <a:prstGeom prst="rect">
            <a:avLst/>
          </a:prstGeom>
          <a:noFill/>
          <a:ln/>
        </p:spPr>
        <p:txBody>
          <a:bodyPr vert="horz" wrap="square" lIns="0" tIns="0" rIns="0" bIns="0" rtlCol="0" anchor="ctr"/>
          <a:lstStyle/>
          <a:p>
            <a:pPr marL="0" indent="0" algn="l">
              <a:lnSpc>
                <a:spcPts val="2700"/>
              </a:lnSpc>
              <a:buNone/>
            </a:pPr>
            <a:r>
              <a:rPr lang="en-US" sz="1800" dirty="0">
                <a:solidFill>
                  <a:srgbClr val="572E26"/>
                </a:solidFill>
                <a:latin typeface="Afacad Flux" pitchFamily="34" charset="0"/>
                <a:ea typeface="Afacad Flux" pitchFamily="34" charset="-122"/>
                <a:cs typeface="Afacad Flux" pitchFamily="34" charset="-120"/>
              </a:rPr>
              <a:t>Maior liberdade para transferir o "significado".</a:t>
            </a:r>
            <a:endParaRPr lang="en-US" sz="1800" dirty="0"/>
          </a:p>
        </p:txBody>
      </p:sp>
      <p:sp>
        <p:nvSpPr>
          <p:cNvPr id="10" name="Text 3"/>
          <p:cNvSpPr/>
          <p:nvPr/>
        </p:nvSpPr>
        <p:spPr>
          <a:xfrm>
            <a:off x="571500" y="4355753"/>
            <a:ext cx="10698480" cy="390525"/>
          </a:xfrm>
          <a:prstGeom prst="rect">
            <a:avLst/>
          </a:prstGeom>
          <a:noFill/>
          <a:ln/>
        </p:spPr>
        <p:txBody>
          <a:bodyPr vert="horz" wrap="square" lIns="0" tIns="0" rIns="0" bIns="0" rtlCol="0" anchor="ctr"/>
          <a:lstStyle/>
          <a:p>
            <a:pPr marL="0" indent="0" algn="l">
              <a:lnSpc>
                <a:spcPts val="2700"/>
              </a:lnSpc>
              <a:buNone/>
            </a:pPr>
            <a:r>
              <a:rPr lang="en-US" sz="1800" dirty="0">
                <a:solidFill>
                  <a:srgbClr val="572E26"/>
                </a:solidFill>
                <a:latin typeface="Afacad Flux" pitchFamily="34" charset="0"/>
                <a:ea typeface="Afacad Flux" pitchFamily="34" charset="-122"/>
                <a:cs typeface="Afacad Flux" pitchFamily="34" charset="-120"/>
              </a:rPr>
              <a:t>Conformidade mínima com a cultura-alvo.</a:t>
            </a:r>
            <a:endParaRPr lang="en-US" sz="1800" dirty="0"/>
          </a:p>
        </p:txBody>
      </p:sp>
      <p:sp>
        <p:nvSpPr>
          <p:cNvPr id="11" name="Text 4"/>
          <p:cNvSpPr/>
          <p:nvPr/>
        </p:nvSpPr>
        <p:spPr>
          <a:xfrm>
            <a:off x="571500" y="4993928"/>
            <a:ext cx="3081933" cy="603796"/>
          </a:xfrm>
          <a:prstGeom prst="rect">
            <a:avLst/>
          </a:prstGeom>
          <a:noFill/>
          <a:ln/>
        </p:spPr>
        <p:txBody>
          <a:bodyPr vert="horz" wrap="square" lIns="0" tIns="0" rIns="0" bIns="0" rtlCol="0" anchor="ctr"/>
          <a:lstStyle/>
          <a:p>
            <a:pPr marL="0" indent="0">
              <a:buNone/>
            </a:pPr>
            <a:r>
              <a:rPr lang="en-US" sz="1400" b="1" dirty="0" err="1">
                <a:solidFill>
                  <a:srgbClr val="9A3412"/>
                </a:solidFill>
                <a:latin typeface="Playfair Display" pitchFamily="34" charset="0"/>
              </a:rPr>
              <a:t>Geralmente</a:t>
            </a:r>
            <a:r>
              <a:rPr lang="en-US" sz="1400" b="1" dirty="0">
                <a:solidFill>
                  <a:srgbClr val="9A3412"/>
                </a:solidFill>
                <a:latin typeface="Playfair Display" pitchFamily="34" charset="0"/>
              </a:rPr>
              <a:t> </a:t>
            </a:r>
            <a:r>
              <a:rPr lang="en-US" sz="1400" b="1" dirty="0" err="1">
                <a:solidFill>
                  <a:srgbClr val="9A3412"/>
                </a:solidFill>
                <a:latin typeface="Playfair Display" pitchFamily="34" charset="0"/>
              </a:rPr>
              <a:t>é</a:t>
            </a:r>
            <a:r>
              <a:rPr lang="en-US" sz="1400" b="1" dirty="0">
                <a:solidFill>
                  <a:srgbClr val="9A3412"/>
                </a:solidFill>
                <a:latin typeface="Playfair Display" pitchFamily="34" charset="0"/>
              </a:rPr>
              <a:t> </a:t>
            </a:r>
            <a:r>
              <a:rPr lang="en-US" sz="1400" b="1" dirty="0" err="1">
                <a:solidFill>
                  <a:srgbClr val="9A3412"/>
                </a:solidFill>
                <a:latin typeface="Playfair Display" pitchFamily="34" charset="0"/>
              </a:rPr>
              <a:t>tradução</a:t>
            </a:r>
            <a:r>
              <a:rPr lang="en-US" sz="1400" b="1" dirty="0">
                <a:solidFill>
                  <a:srgbClr val="9A3412"/>
                </a:solidFill>
                <a:latin typeface="Playfair Display" pitchFamily="34" charset="0"/>
              </a:rPr>
              <a:t> de </a:t>
            </a:r>
            <a:r>
              <a:rPr lang="en-US" sz="1400" b="1" dirty="0" err="1">
                <a:solidFill>
                  <a:srgbClr val="9A3412"/>
                </a:solidFill>
                <a:latin typeface="Playfair Display" pitchFamily="34" charset="0"/>
              </a:rPr>
              <a:t>poeta</a:t>
            </a:r>
            <a:r>
              <a:rPr lang="en-US" sz="1400" b="1" dirty="0">
                <a:solidFill>
                  <a:srgbClr val="9A3412"/>
                </a:solidFill>
                <a:latin typeface="Playfair Display" pitchFamily="34" charset="0"/>
              </a:rPr>
              <a:t> com “agenda”</a:t>
            </a:r>
            <a:endParaRPr lang="en-US" sz="1400" dirty="0"/>
          </a:p>
        </p:txBody>
      </p:sp>
      <p:pic>
        <p:nvPicPr>
          <p:cNvPr id="1028" name="Picture 4">
            <a:extLst>
              <a:ext uri="{FF2B5EF4-FFF2-40B4-BE49-F238E27FC236}">
                <a16:creationId xmlns:a16="http://schemas.microsoft.com/office/drawing/2014/main" id="{052C87E5-EFB6-8071-521F-F8662F545FE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94689" y="1704975"/>
            <a:ext cx="3676329" cy="5735552"/>
          </a:xfrm>
          <a:prstGeom prst="rect">
            <a:avLst/>
          </a:prstGeom>
          <a:noFill/>
          <a:extLst>
            <a:ext uri="{909E8E84-426E-40DD-AFC4-6F175D3DCCD1}">
              <a14:hiddenFill xmlns:a14="http://schemas.microsoft.com/office/drawing/2010/main">
                <a:solidFill>
                  <a:srgbClr val="FFFFFF"/>
                </a:solidFill>
              </a14:hiddenFill>
            </a:ext>
          </a:extLst>
        </p:spPr>
      </p:pic>
      <p:sp>
        <p:nvSpPr>
          <p:cNvPr id="14" name="CaixaDeTexto 13">
            <a:extLst>
              <a:ext uri="{FF2B5EF4-FFF2-40B4-BE49-F238E27FC236}">
                <a16:creationId xmlns:a16="http://schemas.microsoft.com/office/drawing/2014/main" id="{2FB807FF-33AB-AD24-98C4-1583350745FE}"/>
              </a:ext>
            </a:extLst>
          </p:cNvPr>
          <p:cNvSpPr txBox="1"/>
          <p:nvPr/>
        </p:nvSpPr>
        <p:spPr>
          <a:xfrm>
            <a:off x="10548122" y="4993928"/>
            <a:ext cx="1643877" cy="923330"/>
          </a:xfrm>
          <a:prstGeom prst="rect">
            <a:avLst/>
          </a:prstGeom>
          <a:noFill/>
        </p:spPr>
        <p:txBody>
          <a:bodyPr wrap="square" rtlCol="0">
            <a:spAutoFit/>
          </a:bodyPr>
          <a:lstStyle/>
          <a:p>
            <a:r>
              <a:rPr lang="pt-PT" dirty="0"/>
              <a:t>Versão</a:t>
            </a:r>
          </a:p>
          <a:p>
            <a:r>
              <a:rPr lang="pt-PT" dirty="0"/>
              <a:t>Augusto de Campos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620000"/>
          </a:xfrm>
          <a:prstGeom prst="rect">
            <a:avLst/>
          </a:prstGeom>
        </p:spPr>
      </p:pic>
      <p:pic>
        <p:nvPicPr>
          <p:cNvPr id="3" name="Image 1" descr="preencoded.png"/>
          <p:cNvPicPr>
            <a:picLocks noChangeAspect="1"/>
          </p:cNvPicPr>
          <p:nvPr/>
        </p:nvPicPr>
        <p:blipFill>
          <a:blip r:embed="rId4"/>
          <a:stretch>
            <a:fillRect/>
          </a:stretch>
        </p:blipFill>
        <p:spPr>
          <a:xfrm>
            <a:off x="0" y="381000"/>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381000" y="3871764"/>
            <a:ext cx="11430000" cy="57150"/>
          </a:xfrm>
          <a:prstGeom prst="rect">
            <a:avLst/>
          </a:prstGeom>
        </p:spPr>
      </p:pic>
      <p:pic>
        <p:nvPicPr>
          <p:cNvPr id="5" name="Image 3" descr="preencoded.png"/>
          <p:cNvPicPr>
            <a:picLocks noChangeAspect="1"/>
          </p:cNvPicPr>
          <p:nvPr/>
        </p:nvPicPr>
        <p:blipFill>
          <a:blip r:embed="rId6"/>
          <a:stretch>
            <a:fillRect/>
          </a:stretch>
        </p:blipFill>
        <p:spPr>
          <a:xfrm>
            <a:off x="762000" y="3051870"/>
            <a:ext cx="2346871" cy="1697087"/>
          </a:xfrm>
          <a:prstGeom prst="rect">
            <a:avLst/>
          </a:prstGeom>
        </p:spPr>
      </p:pic>
      <p:pic>
        <p:nvPicPr>
          <p:cNvPr id="6" name="Image 4" descr="preencoded.png"/>
          <p:cNvPicPr>
            <a:picLocks noChangeAspect="1"/>
          </p:cNvPicPr>
          <p:nvPr/>
        </p:nvPicPr>
        <p:blipFill>
          <a:blip r:embed="rId7"/>
          <a:stretch>
            <a:fillRect/>
          </a:stretch>
        </p:blipFill>
        <p:spPr>
          <a:xfrm>
            <a:off x="4922490" y="3163193"/>
            <a:ext cx="2346871" cy="1474291"/>
          </a:xfrm>
          <a:prstGeom prst="rect">
            <a:avLst/>
          </a:prstGeom>
        </p:spPr>
      </p:pic>
      <p:pic>
        <p:nvPicPr>
          <p:cNvPr id="7" name="Image 5" descr="preencoded.png"/>
          <p:cNvPicPr>
            <a:picLocks noChangeAspect="1"/>
          </p:cNvPicPr>
          <p:nvPr/>
        </p:nvPicPr>
        <p:blipFill>
          <a:blip r:embed="rId8"/>
          <a:stretch>
            <a:fillRect/>
          </a:stretch>
        </p:blipFill>
        <p:spPr>
          <a:xfrm>
            <a:off x="9082980" y="3163193"/>
            <a:ext cx="2346871" cy="1474291"/>
          </a:xfrm>
          <a:prstGeom prst="rect">
            <a:avLst/>
          </a:prstGeom>
        </p:spPr>
      </p:pic>
      <p:sp>
        <p:nvSpPr>
          <p:cNvPr id="8" name="Text 0"/>
          <p:cNvSpPr/>
          <p:nvPr/>
        </p:nvSpPr>
        <p:spPr>
          <a:xfrm>
            <a:off x="381000" y="762000"/>
            <a:ext cx="17236440" cy="561975"/>
          </a:xfrm>
          <a:prstGeom prst="rect">
            <a:avLst/>
          </a:prstGeom>
          <a:noFill/>
          <a:ln/>
        </p:spPr>
        <p:txBody>
          <a:bodyPr vert="horz" wrap="square" lIns="0" tIns="0" rIns="0" bIns="0" rtlCol="0" anchor="ctr"/>
          <a:lstStyle/>
          <a:p>
            <a:pPr marL="0" indent="0" algn="l">
              <a:buNone/>
            </a:pPr>
            <a:r>
              <a:rPr lang="en-US" sz="3900" b="1" dirty="0">
                <a:solidFill>
                  <a:srgbClr val="9A3412"/>
                </a:solidFill>
                <a:latin typeface="Comfortaa" pitchFamily="34" charset="0"/>
                <a:ea typeface="Comfortaa" pitchFamily="34" charset="-122"/>
                <a:cs typeface="Comfortaa" pitchFamily="34" charset="-120"/>
              </a:rPr>
              <a:t>Impacto e Exemplos (Odisseia)</a:t>
            </a:r>
            <a:endParaRPr lang="en-US" sz="3900" dirty="0"/>
          </a:p>
        </p:txBody>
      </p:sp>
      <p:sp>
        <p:nvSpPr>
          <p:cNvPr id="9" name="Text 1"/>
          <p:cNvSpPr/>
          <p:nvPr/>
        </p:nvSpPr>
        <p:spPr>
          <a:xfrm>
            <a:off x="495255" y="3242370"/>
            <a:ext cx="2880360" cy="304800"/>
          </a:xfrm>
          <a:prstGeom prst="rect">
            <a:avLst/>
          </a:prstGeom>
          <a:noFill/>
          <a:ln/>
        </p:spPr>
        <p:txBody>
          <a:bodyPr vert="horz" wrap="square" lIns="0" tIns="0" rIns="0" bIns="0" rtlCol="0" anchor="ctr"/>
          <a:lstStyle/>
          <a:p>
            <a:pPr marL="0" indent="0" algn="ctr">
              <a:buNone/>
            </a:pPr>
            <a:r>
              <a:rPr lang="en-US" sz="2100" b="1" dirty="0">
                <a:solidFill>
                  <a:srgbClr val="EA580C"/>
                </a:solidFill>
                <a:latin typeface="Comfortaa" pitchFamily="34" charset="0"/>
                <a:ea typeface="Comfortaa" pitchFamily="34" charset="-122"/>
                <a:cs typeface="Comfortaa" pitchFamily="34" charset="-120"/>
              </a:rPr>
              <a:t>Analógica</a:t>
            </a:r>
            <a:endParaRPr lang="en-US" sz="2100" dirty="0"/>
          </a:p>
        </p:txBody>
      </p:sp>
      <p:sp>
        <p:nvSpPr>
          <p:cNvPr id="10" name="Text 2"/>
          <p:cNvSpPr/>
          <p:nvPr/>
        </p:nvSpPr>
        <p:spPr>
          <a:xfrm>
            <a:off x="952500" y="3718620"/>
            <a:ext cx="1965871" cy="668387"/>
          </a:xfrm>
          <a:prstGeom prst="rect">
            <a:avLst/>
          </a:prstGeom>
          <a:noFill/>
          <a:ln/>
        </p:spPr>
        <p:txBody>
          <a:bodyPr vert="horz" wrap="square" lIns="0" tIns="0" rIns="0" bIns="0" rtlCol="0" anchor="ctr"/>
          <a:lstStyle/>
          <a:p>
            <a:pPr marL="0" indent="0" algn="ctr">
              <a:lnSpc>
                <a:spcPts val="1755"/>
              </a:lnSpc>
              <a:buNone/>
            </a:pPr>
            <a:r>
              <a:rPr lang="en-US" sz="1350" b="1" dirty="0">
                <a:solidFill>
                  <a:srgbClr val="572E26"/>
                </a:solidFill>
                <a:latin typeface="Afacad Flux" pitchFamily="34" charset="0"/>
                <a:ea typeface="Afacad Flux" pitchFamily="34" charset="-122"/>
                <a:cs typeface="Afacad Flux" pitchFamily="34" charset="-120"/>
              </a:rPr>
              <a:t>Fitzgerald</a:t>
            </a:r>
            <a:r>
              <a:rPr lang="en-US" sz="1350" dirty="0">
                <a:solidFill>
                  <a:srgbClr val="572E26"/>
                </a:solidFill>
                <a:latin typeface="Afacad Flux" pitchFamily="34" charset="0"/>
                <a:ea typeface="Afacad Flux" pitchFamily="34" charset="-122"/>
                <a:cs typeface="Afacad Flux" pitchFamily="34" charset="-120"/>
              </a:rPr>
              <a:t>
Verso Branco (Blank Verse)</a:t>
            </a:r>
            <a:endParaRPr lang="en-US" sz="1350" dirty="0"/>
          </a:p>
        </p:txBody>
      </p:sp>
      <p:sp>
        <p:nvSpPr>
          <p:cNvPr id="11" name="Text 3"/>
          <p:cNvSpPr/>
          <p:nvPr/>
        </p:nvSpPr>
        <p:spPr>
          <a:xfrm>
            <a:off x="4815766" y="3353693"/>
            <a:ext cx="2560320" cy="304800"/>
          </a:xfrm>
          <a:prstGeom prst="rect">
            <a:avLst/>
          </a:prstGeom>
          <a:noFill/>
          <a:ln/>
        </p:spPr>
        <p:txBody>
          <a:bodyPr vert="horz" wrap="square" lIns="0" tIns="0" rIns="0" bIns="0" rtlCol="0" anchor="ctr"/>
          <a:lstStyle/>
          <a:p>
            <a:pPr marL="0" indent="0" algn="ctr">
              <a:buNone/>
            </a:pPr>
            <a:r>
              <a:rPr lang="en-US" sz="2100" b="1" dirty="0">
                <a:solidFill>
                  <a:srgbClr val="EA580C"/>
                </a:solidFill>
                <a:latin typeface="Comfortaa" pitchFamily="34" charset="0"/>
                <a:ea typeface="Comfortaa" pitchFamily="34" charset="-122"/>
                <a:cs typeface="Comfortaa" pitchFamily="34" charset="-120"/>
              </a:rPr>
              <a:t>Mimética</a:t>
            </a:r>
            <a:endParaRPr lang="en-US" sz="2100" dirty="0"/>
          </a:p>
        </p:txBody>
      </p:sp>
      <p:sp>
        <p:nvSpPr>
          <p:cNvPr id="12" name="Text 4"/>
          <p:cNvSpPr/>
          <p:nvPr/>
        </p:nvSpPr>
        <p:spPr>
          <a:xfrm>
            <a:off x="5112990" y="3829943"/>
            <a:ext cx="1965871" cy="445591"/>
          </a:xfrm>
          <a:prstGeom prst="rect">
            <a:avLst/>
          </a:prstGeom>
          <a:noFill/>
          <a:ln/>
        </p:spPr>
        <p:txBody>
          <a:bodyPr vert="horz" wrap="square" lIns="0" tIns="0" rIns="0" bIns="0" rtlCol="0" anchor="ctr"/>
          <a:lstStyle/>
          <a:p>
            <a:pPr marL="0" indent="0" algn="ctr">
              <a:lnSpc>
                <a:spcPts val="1755"/>
              </a:lnSpc>
              <a:buNone/>
            </a:pPr>
            <a:r>
              <a:rPr lang="en-US" sz="1350" b="1" dirty="0">
                <a:solidFill>
                  <a:srgbClr val="572E26"/>
                </a:solidFill>
                <a:latin typeface="Afacad Flux" pitchFamily="34" charset="0"/>
                <a:ea typeface="Afacad Flux" pitchFamily="34" charset="-122"/>
                <a:cs typeface="Afacad Flux" pitchFamily="34" charset="-120"/>
              </a:rPr>
              <a:t>Lattimore</a:t>
            </a:r>
            <a:r>
              <a:rPr lang="en-US" sz="1350" dirty="0">
                <a:solidFill>
                  <a:srgbClr val="572E26"/>
                </a:solidFill>
                <a:latin typeface="Afacad Flux" pitchFamily="34" charset="0"/>
                <a:ea typeface="Afacad Flux" pitchFamily="34" charset="-122"/>
                <a:cs typeface="Afacad Flux" pitchFamily="34" charset="-120"/>
              </a:rPr>
              <a:t>
Hexâmetros</a:t>
            </a:r>
            <a:endParaRPr lang="en-US" sz="1350" dirty="0"/>
          </a:p>
        </p:txBody>
      </p:sp>
      <p:sp>
        <p:nvSpPr>
          <p:cNvPr id="13" name="Text 5"/>
          <p:cNvSpPr/>
          <p:nvPr/>
        </p:nvSpPr>
        <p:spPr>
          <a:xfrm>
            <a:off x="8976256" y="3353693"/>
            <a:ext cx="2560320" cy="304800"/>
          </a:xfrm>
          <a:prstGeom prst="rect">
            <a:avLst/>
          </a:prstGeom>
          <a:noFill/>
          <a:ln/>
        </p:spPr>
        <p:txBody>
          <a:bodyPr vert="horz" wrap="square" lIns="0" tIns="0" rIns="0" bIns="0" rtlCol="0" anchor="ctr"/>
          <a:lstStyle/>
          <a:p>
            <a:pPr marL="0" indent="0" algn="ctr">
              <a:buNone/>
            </a:pPr>
            <a:r>
              <a:rPr lang="en-US" sz="2100" b="1" dirty="0">
                <a:solidFill>
                  <a:srgbClr val="EA580C"/>
                </a:solidFill>
                <a:latin typeface="Comfortaa" pitchFamily="34" charset="0"/>
                <a:ea typeface="Comfortaa" pitchFamily="34" charset="-122"/>
                <a:cs typeface="Comfortaa" pitchFamily="34" charset="-120"/>
              </a:rPr>
              <a:t>Orgânica</a:t>
            </a:r>
            <a:endParaRPr lang="en-US" sz="2100" dirty="0"/>
          </a:p>
        </p:txBody>
      </p:sp>
      <p:sp>
        <p:nvSpPr>
          <p:cNvPr id="14" name="Text 6"/>
          <p:cNvSpPr/>
          <p:nvPr/>
        </p:nvSpPr>
        <p:spPr>
          <a:xfrm>
            <a:off x="9273480" y="3829943"/>
            <a:ext cx="1965871" cy="445591"/>
          </a:xfrm>
          <a:prstGeom prst="rect">
            <a:avLst/>
          </a:prstGeom>
          <a:noFill/>
          <a:ln/>
        </p:spPr>
        <p:txBody>
          <a:bodyPr vert="horz" wrap="square" lIns="0" tIns="0" rIns="0" bIns="0" rtlCol="0" anchor="ctr"/>
          <a:lstStyle/>
          <a:p>
            <a:pPr marL="0" indent="0" algn="ctr">
              <a:lnSpc>
                <a:spcPts val="1755"/>
              </a:lnSpc>
              <a:buNone/>
            </a:pPr>
            <a:r>
              <a:rPr lang="en-US" sz="1350" b="1" dirty="0">
                <a:solidFill>
                  <a:srgbClr val="572E26"/>
                </a:solidFill>
                <a:latin typeface="Afacad Flux" pitchFamily="34" charset="0"/>
                <a:ea typeface="Afacad Flux" pitchFamily="34" charset="-122"/>
                <a:cs typeface="Afacad Flux" pitchFamily="34" charset="-120"/>
              </a:rPr>
              <a:t>Ezra Pound</a:t>
            </a:r>
            <a:r>
              <a:rPr lang="en-US" sz="1350" dirty="0">
                <a:solidFill>
                  <a:srgbClr val="572E26"/>
                </a:solidFill>
                <a:latin typeface="Afacad Flux" pitchFamily="34" charset="0"/>
                <a:ea typeface="Afacad Flux" pitchFamily="34" charset="-122"/>
                <a:cs typeface="Afacad Flux" pitchFamily="34" charset="-120"/>
              </a:rPr>
              <a:t>
Recriação Essencial</a:t>
            </a:r>
            <a:endParaRPr lang="en-US" sz="1350" dirty="0"/>
          </a:p>
        </p:txBody>
      </p:sp>
      <p:sp>
        <p:nvSpPr>
          <p:cNvPr id="15" name="Text 7"/>
          <p:cNvSpPr/>
          <p:nvPr/>
        </p:nvSpPr>
        <p:spPr>
          <a:xfrm>
            <a:off x="-3162300" y="5320457"/>
            <a:ext cx="18516600" cy="285750"/>
          </a:xfrm>
          <a:prstGeom prst="rect">
            <a:avLst/>
          </a:prstGeom>
          <a:noFill/>
          <a:ln/>
        </p:spPr>
        <p:txBody>
          <a:bodyPr vert="horz" wrap="square" lIns="0" tIns="0" rIns="0" bIns="0" rtlCol="0" anchor="ctr"/>
          <a:lstStyle/>
          <a:p>
            <a:pPr marL="0" indent="0" algn="ctr">
              <a:lnSpc>
                <a:spcPts val="2250"/>
              </a:lnSpc>
              <a:buNone/>
            </a:pPr>
            <a:r>
              <a:rPr lang="en-US" sz="1500" i="1" dirty="0">
                <a:solidFill>
                  <a:srgbClr val="572E26"/>
                </a:solidFill>
                <a:latin typeface="Afacad Flux" pitchFamily="34" charset="0"/>
                <a:ea typeface="Afacad Flux" pitchFamily="34" charset="-122"/>
                <a:cs typeface="Afacad Flux" pitchFamily="34" charset="-120"/>
              </a:rPr>
              <a:t>"The metapoem must in some measure meet the expectations of the target language."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TotalTime>
  <Words>349</Words>
  <Application>Microsoft Macintosh PowerPoint</Application>
  <PresentationFormat>Ecrã Panorâmico</PresentationFormat>
  <Paragraphs>55</Paragraphs>
  <Slides>10</Slides>
  <Notes>10</Notes>
  <HiddenSlides>0</HiddenSlides>
  <MMClips>0</MMClips>
  <ScaleCrop>false</ScaleCrop>
  <HeadingPairs>
    <vt:vector size="6" baseType="variant">
      <vt:variant>
        <vt:lpstr>Tipos de letra usados</vt:lpstr>
      </vt:variant>
      <vt:variant>
        <vt:i4>4</vt:i4>
      </vt:variant>
      <vt:variant>
        <vt:lpstr>Tema</vt:lpstr>
      </vt:variant>
      <vt:variant>
        <vt:i4>1</vt:i4>
      </vt:variant>
      <vt:variant>
        <vt:lpstr>Títulos dos diapositivos</vt:lpstr>
      </vt:variant>
      <vt:variant>
        <vt:i4>10</vt:i4>
      </vt:variant>
    </vt:vector>
  </HeadingPairs>
  <TitlesOfParts>
    <vt:vector size="15" baseType="lpstr">
      <vt:lpstr>Afacad Flux</vt:lpstr>
      <vt:lpstr>Arial</vt:lpstr>
      <vt:lpstr>Comfortaa</vt:lpstr>
      <vt:lpstr>Playfair Display</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Microsoft Office User</cp:lastModifiedBy>
  <cp:revision>2</cp:revision>
  <dcterms:created xsi:type="dcterms:W3CDTF">2026-03-01T20:53:02Z</dcterms:created>
  <dcterms:modified xsi:type="dcterms:W3CDTF">2026-03-02T01:15:24Z</dcterms:modified>
</cp:coreProperties>
</file>